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b5d487d3714b6e" /><Relationship Type="http://schemas.openxmlformats.org/officeDocument/2006/relationships/extended-properties" Target="/docProps/app.xml" Id="Rc42af2a5899c4f06" /><Relationship Type="http://schemas.openxmlformats.org/officeDocument/2006/relationships/officeDocument" Target="/ppt/presentation.xml" Id="Rff391996d91242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4407ac52e4076"/>
  </p:sldMasterIdLst>
  <p:notesMasterIdLst>
    <p:notesMasterId xmlns:r="http://schemas.openxmlformats.org/officeDocument/2006/relationships" r:id="R69bd047c3568405f"/>
  </p:notesMasterIdLst>
  <p:sldIdLst>
    <p:sldId xmlns:r="http://schemas.openxmlformats.org/officeDocument/2006/relationships" id="256" r:id="Rf1893900f54f40ee"/>
    <p:sldId xmlns:r="http://schemas.openxmlformats.org/officeDocument/2006/relationships" id="257" r:id="Rd6fa58b59fa04a6f"/>
    <p:sldId xmlns:r="http://schemas.openxmlformats.org/officeDocument/2006/relationships" id="258" r:id="R5b780948e7214883"/>
    <p:sldId xmlns:r="http://schemas.openxmlformats.org/officeDocument/2006/relationships" id="259" r:id="R73970498a27949c0"/>
    <p:sldId xmlns:r="http://schemas.openxmlformats.org/officeDocument/2006/relationships" id="260" r:id="R6f4f33816d204c54"/>
    <p:sldId xmlns:r="http://schemas.openxmlformats.org/officeDocument/2006/relationships" id="261" r:id="R3a4a5a98dd1e45aa"/>
    <p:sldId xmlns:r="http://schemas.openxmlformats.org/officeDocument/2006/relationships" id="262" r:id="R7017501686b542f8"/>
    <p:sldId xmlns:r="http://schemas.openxmlformats.org/officeDocument/2006/relationships" id="263" r:id="R697ed5374dd74a75"/>
    <p:sldId xmlns:r="http://schemas.openxmlformats.org/officeDocument/2006/relationships" id="264" r:id="R54e2f42e653a4fbc"/>
    <p:sldId xmlns:r="http://schemas.openxmlformats.org/officeDocument/2006/relationships" id="265" r:id="R941c793716654aa0"/>
    <p:sldId xmlns:r="http://schemas.openxmlformats.org/officeDocument/2006/relationships" id="266" r:id="R5d24b7e7f7474ef6"/>
    <p:sldId xmlns:r="http://schemas.openxmlformats.org/officeDocument/2006/relationships" id="267" r:id="Rffcf3ae970de4f7e"/>
    <p:sldId xmlns:r="http://schemas.openxmlformats.org/officeDocument/2006/relationships" id="268" r:id="Rcd6fd590f9434925"/>
    <p:sldId xmlns:r="http://schemas.openxmlformats.org/officeDocument/2006/relationships" id="269" r:id="Rffbc7f6af9214a39"/>
    <p:sldId xmlns:r="http://schemas.openxmlformats.org/officeDocument/2006/relationships" id="270" r:id="Raed6d1a4dbf94d93"/>
    <p:sldId xmlns:r="http://schemas.openxmlformats.org/officeDocument/2006/relationships" id="271" r:id="R8e6d14151aa44651"/>
    <p:sldId xmlns:r="http://schemas.openxmlformats.org/officeDocument/2006/relationships" id="272" r:id="R7d4d92c868854274"/>
    <p:sldId xmlns:r="http://schemas.openxmlformats.org/officeDocument/2006/relationships" id="273" r:id="Rb99f0b9d23654a99"/>
    <p:sldId xmlns:r="http://schemas.openxmlformats.org/officeDocument/2006/relationships" id="274" r:id="Re38f5bd012be48a0"/>
    <p:sldId xmlns:r="http://schemas.openxmlformats.org/officeDocument/2006/relationships" id="275" r:id="Rb00f929c7835423c"/>
    <p:sldId xmlns:r="http://schemas.openxmlformats.org/officeDocument/2006/relationships" id="276" r:id="R1cf626cc6dd64f7f"/>
    <p:sldId xmlns:r="http://schemas.openxmlformats.org/officeDocument/2006/relationships" id="277" r:id="Rce874fe4729f4648"/>
    <p:sldId xmlns:r="http://schemas.openxmlformats.org/officeDocument/2006/relationships" id="278" r:id="Rc7f4e57996544aaa"/>
    <p:sldId xmlns:r="http://schemas.openxmlformats.org/officeDocument/2006/relationships" id="279" r:id="R0dec670c75754f0d"/>
    <p:sldId xmlns:r="http://schemas.openxmlformats.org/officeDocument/2006/relationships" id="280" r:id="Ra321a469032248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4462c6e304ff0" /><Relationship Type="http://schemas.openxmlformats.org/officeDocument/2006/relationships/slideMaster" Target="/ppt/slideMasters/slideMaster1.xml" Id="Rfa74407ac52e4076" /><Relationship Type="http://schemas.openxmlformats.org/officeDocument/2006/relationships/notesMaster" Target="/ppt/notesMasters/notesMaster1.xml" Id="R69bd047c3568405f" /><Relationship Type="http://schemas.openxmlformats.org/officeDocument/2006/relationships/presProps" Target="/ppt/presProps.xml" Id="R1bab132169df4c07" /><Relationship Type="http://schemas.openxmlformats.org/officeDocument/2006/relationships/tableStyles" Target="/ppt/tableStyles.xml" Id="R0058b3a5833f470c" /><Relationship Type="http://schemas.openxmlformats.org/officeDocument/2006/relationships/slide" Target="/ppt/slides/slide1.xml" Id="Rf1893900f54f40ee" /><Relationship Type="http://schemas.openxmlformats.org/officeDocument/2006/relationships/slide" Target="/ppt/slides/slide2.xml" Id="Rd6fa58b59fa04a6f" /><Relationship Type="http://schemas.openxmlformats.org/officeDocument/2006/relationships/slide" Target="/ppt/slides/slide3.xml" Id="R5b780948e7214883" /><Relationship Type="http://schemas.openxmlformats.org/officeDocument/2006/relationships/slide" Target="/ppt/slides/slide4.xml" Id="R73970498a27949c0" /><Relationship Type="http://schemas.openxmlformats.org/officeDocument/2006/relationships/slide" Target="/ppt/slides/slide5.xml" Id="R6f4f33816d204c54" /><Relationship Type="http://schemas.openxmlformats.org/officeDocument/2006/relationships/slide" Target="/ppt/slides/slide6.xml" Id="R3a4a5a98dd1e45aa" /><Relationship Type="http://schemas.openxmlformats.org/officeDocument/2006/relationships/slide" Target="/ppt/slides/slide7.xml" Id="R7017501686b542f8" /><Relationship Type="http://schemas.openxmlformats.org/officeDocument/2006/relationships/slide" Target="/ppt/slides/slide8.xml" Id="R697ed5374dd74a75" /><Relationship Type="http://schemas.openxmlformats.org/officeDocument/2006/relationships/slide" Target="/ppt/slides/slide9.xml" Id="R54e2f42e653a4fbc" /><Relationship Type="http://schemas.openxmlformats.org/officeDocument/2006/relationships/slide" Target="/ppt/slides/slide10.xml" Id="R941c793716654aa0" /><Relationship Type="http://schemas.openxmlformats.org/officeDocument/2006/relationships/slide" Target="/ppt/slides/slide11.xml" Id="R5d24b7e7f7474ef6" /><Relationship Type="http://schemas.openxmlformats.org/officeDocument/2006/relationships/slide" Target="/ppt/slides/slide12.xml" Id="Rffcf3ae970de4f7e" /><Relationship Type="http://schemas.openxmlformats.org/officeDocument/2006/relationships/slide" Target="/ppt/slides/slide13.xml" Id="Rcd6fd590f9434925" /><Relationship Type="http://schemas.openxmlformats.org/officeDocument/2006/relationships/slide" Target="/ppt/slides/slide14.xml" Id="Rffbc7f6af9214a39" /><Relationship Type="http://schemas.openxmlformats.org/officeDocument/2006/relationships/slide" Target="/ppt/slides/slide15.xml" Id="Raed6d1a4dbf94d93" /><Relationship Type="http://schemas.openxmlformats.org/officeDocument/2006/relationships/slide" Target="/ppt/slides/slide16.xml" Id="R8e6d14151aa44651" /><Relationship Type="http://schemas.openxmlformats.org/officeDocument/2006/relationships/slide" Target="/ppt/slides/slide17.xml" Id="R7d4d92c868854274" /><Relationship Type="http://schemas.openxmlformats.org/officeDocument/2006/relationships/slide" Target="/ppt/slides/slide18.xml" Id="Rb99f0b9d23654a99" /><Relationship Type="http://schemas.openxmlformats.org/officeDocument/2006/relationships/slide" Target="/ppt/slides/slide19.xml" Id="Re38f5bd012be48a0" /><Relationship Type="http://schemas.openxmlformats.org/officeDocument/2006/relationships/slide" Target="/ppt/slides/slide20.xml" Id="Rb00f929c7835423c" /><Relationship Type="http://schemas.openxmlformats.org/officeDocument/2006/relationships/slide" Target="/ppt/slides/slide21.xml" Id="R1cf626cc6dd64f7f" /><Relationship Type="http://schemas.openxmlformats.org/officeDocument/2006/relationships/slide" Target="/ppt/slides/slide22.xml" Id="Rce874fe4729f4648" /><Relationship Type="http://schemas.openxmlformats.org/officeDocument/2006/relationships/slide" Target="/ppt/slides/slide23.xml" Id="Rc7f4e57996544aaa" /><Relationship Type="http://schemas.openxmlformats.org/officeDocument/2006/relationships/slide" Target="/ppt/slides/slide24.xml" Id="R0dec670c75754f0d" /><Relationship Type="http://schemas.openxmlformats.org/officeDocument/2006/relationships/slide" Target="/ppt/slides/slide25.xml" Id="Ra321a4690322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df141590f46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8383790f9453c" /><Relationship Type="http://schemas.openxmlformats.org/officeDocument/2006/relationships/notesMaster" Target="/ppt/notesMasters/notesMaster1.xml" Id="R0867da5c8079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ded7f4c7d24041" /><Relationship Type="http://schemas.openxmlformats.org/officeDocument/2006/relationships/notesMaster" Target="/ppt/notesMasters/notesMaster1.xml" Id="R59f4b3e1337e4e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62156a595146f2" /><Relationship Type="http://schemas.openxmlformats.org/officeDocument/2006/relationships/notesMaster" Target="/ppt/notesMasters/notesMaster1.xml" Id="R360be141cfff4c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cfeb0323e40cd" /><Relationship Type="http://schemas.openxmlformats.org/officeDocument/2006/relationships/notesMaster" Target="/ppt/notesMasters/notesMaster1.xml" Id="Rc91d76c080034a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5b434d545d4a57" /><Relationship Type="http://schemas.openxmlformats.org/officeDocument/2006/relationships/notesMaster" Target="/ppt/notesMasters/notesMaster1.xml" Id="R07b41ee3cbad4a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12535ba0fc4590" /><Relationship Type="http://schemas.openxmlformats.org/officeDocument/2006/relationships/notesMaster" Target="/ppt/notesMasters/notesMaster1.xml" Id="Rcb999a4655ca49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263bb45f424254" /><Relationship Type="http://schemas.openxmlformats.org/officeDocument/2006/relationships/notesMaster" Target="/ppt/notesMasters/notesMaster1.xml" Id="R4b4fe4be8b5b4c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f692bbe41e4cdc" /><Relationship Type="http://schemas.openxmlformats.org/officeDocument/2006/relationships/notesMaster" Target="/ppt/notesMasters/notesMaster1.xml" Id="R5cbc7f363604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cf84d99e394739" /><Relationship Type="http://schemas.openxmlformats.org/officeDocument/2006/relationships/notesMaster" Target="/ppt/notesMasters/notesMaster1.xml" Id="R6958ee5c9a364b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d025aee1eb46c3" /><Relationship Type="http://schemas.openxmlformats.org/officeDocument/2006/relationships/notesMaster" Target="/ppt/notesMasters/notesMaster1.xml" Id="Rb977d31e001c42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6ade42915444f" /><Relationship Type="http://schemas.openxmlformats.org/officeDocument/2006/relationships/notesMaster" Target="/ppt/notesMasters/notesMaster1.xml" Id="R2a4aa47e4b304b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31738691e5476c" /><Relationship Type="http://schemas.openxmlformats.org/officeDocument/2006/relationships/notesMaster" Target="/ppt/notesMasters/notesMaster1.xml" Id="Rbcdc108cf2f54f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5dc5595d9d4ee7" /><Relationship Type="http://schemas.openxmlformats.org/officeDocument/2006/relationships/notesMaster" Target="/ppt/notesMasters/notesMaster1.xml" Id="Ra4a3b7ee2e314e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f3af6c8e094d34" /><Relationship Type="http://schemas.openxmlformats.org/officeDocument/2006/relationships/notesMaster" Target="/ppt/notesMasters/notesMaster1.xml" Id="Ra0625d8e407140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142944e0424ba6" /><Relationship Type="http://schemas.openxmlformats.org/officeDocument/2006/relationships/notesMaster" Target="/ppt/notesMasters/notesMaster1.xml" Id="R7d6efe203a1b44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6a31fc92fe4ae0" /><Relationship Type="http://schemas.openxmlformats.org/officeDocument/2006/relationships/notesMaster" Target="/ppt/notesMasters/notesMaster1.xml" Id="Rc74ded1b7ac645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bc47d3f276401b" /><Relationship Type="http://schemas.openxmlformats.org/officeDocument/2006/relationships/notesMaster" Target="/ppt/notesMasters/notesMaster1.xml" Id="Rabec0ed4402c4d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28384fdab4439c" /><Relationship Type="http://schemas.openxmlformats.org/officeDocument/2006/relationships/notesMaster" Target="/ppt/notesMasters/notesMaster1.xml" Id="Rdddfd4fc210b4b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6c0dcaa2154b43" /><Relationship Type="http://schemas.openxmlformats.org/officeDocument/2006/relationships/notesMaster" Target="/ppt/notesMasters/notesMaster1.xml" Id="Rabeb6ae17f0e40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31c081454648da" /><Relationship Type="http://schemas.openxmlformats.org/officeDocument/2006/relationships/notesMaster" Target="/ppt/notesMasters/notesMaster1.xml" Id="Rc4e8aa708e4a44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97d58d7d35469f" /><Relationship Type="http://schemas.openxmlformats.org/officeDocument/2006/relationships/notesMaster" Target="/ppt/notesMasters/notesMaster1.xml" Id="Ra342ef4d6c92406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810b98734b4cc1" /><Relationship Type="http://schemas.openxmlformats.org/officeDocument/2006/relationships/notesMaster" Target="/ppt/notesMasters/notesMaster1.xml" Id="R9449e6dcba1a40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209849268043fb" /><Relationship Type="http://schemas.openxmlformats.org/officeDocument/2006/relationships/notesMaster" Target="/ppt/notesMasters/notesMaster1.xml" Id="R14f960b5ac404b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fb04810d1145a7" /><Relationship Type="http://schemas.openxmlformats.org/officeDocument/2006/relationships/notesMaster" Target="/ppt/notesMasters/notesMaster1.xml" Id="R7ef54fb6b6134a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40808fc4ab4816" /><Relationship Type="http://schemas.openxmlformats.org/officeDocument/2006/relationships/notesMaster" Target="/ppt/notesMasters/notesMaster1.xml" Id="R9f29d62b9b27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unit’s change in focus. Earlier state-of-nature arguments asked what political society solves. This reading asks what could give a state the moral right to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1-20.</a:t>
            </a:r>
          </a:p>
          <a:p xmlns:a="http://schemas.openxmlformats.org/drawingml/2006/main">
            <a:r>
              <a:t>Cover visual: original editorial illustration generated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transition explicit. The state of nature remains useful, but it now supports a different inquiry about legitimacy and political obligation.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1-3, 14.</a:t>
            </a:r>
          </a:p>
          <a:p xmlns:a="http://schemas.openxmlformats.org/drawingml/2006/main">
            <a:r>
              <a:t>Course context: State of Nature Wrapup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State-of-nature reasoning evaluates the alternative to government. State justification evaluates the authority of government. Locke connects the questions but does not treat them as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1-2, 9, 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question asks whether we need enforceable restraints. The second asks what authorizes a particular institution to impose them. For Locke, benefit alone cannot create the required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1-2, 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reading’s own distinction. Negative justification matters, but it does not finish the philosophical task because it does not yet show a moral duty to obey.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reciprocal picture: the state claims control over legitimate coercion and accepts responsibility for protection. The reading immediately qualifies both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3-5.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reading narrows the inquiry to obedience. Universal obligation does not mean absolute obedience to every law in every circumstance.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5-7.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locates the social contract within the chapter’s broader plan. Do not develop utilitarianism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2-3.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the substantive chapter. The contract is attractive because it appears to reconcile personal autonomy with a state that claims authority over everyone.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8-9.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Reject the crude self-assumption principle. Voluntarism enters because political authority claims a special power over free persons.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8-9.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contract as an elegant solution in outline. It must preserve voluntary authorization while explaining universal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9.</a:t>
            </a:r>
          </a:p>
          <a:p xmlns:a="http://schemas.openxmlformats.org/drawingml/2006/main">
            <a:r>
              <a:t>Visual: original editorial illustration generated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intergenerational objection is decisive. Even if an original contract occurred, its participants could not contract on behalf of people born centuries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9-10.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search for ongoing express consent does not reach most residents. Participatory democracy may strengthen the case, but ordinary democracies fall short.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10-11.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tacit consent distinct from a fairness argument. Here benefits matter because receiving them supposedly communicates consent.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11-12.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ship as an argument. Hume’s point is that a sign of agreement must be distinguishable from conduct forced by necessity.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12-13.</a:t>
            </a:r>
          </a:p>
          <a:p xmlns:a="http://schemas.openxmlformats.org/drawingml/2006/main">
            <a:r>
              <a:t>Visual: original editorial illustration generated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directly to the previous unit. The state of nature now acts as a device for hypothetical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14-15.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consent can identify a state worth choosing, but then justification rests on the state’s benefits rather than voluntary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15-16.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analogy may explain an attitude, but it does not give that attitude the force of a voluntary undertaking.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16-17.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theory’s respect for individual choice creates the reason it cannot reach everyone. One genuine dissenter prevents a universal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of consent revives a narrower anarchist claim: the law’s status as law may add no independent reason to obey.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17-18.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anarchist can support particular laws and police actions for independent moral reasons while denying any general duty to obey the state as such.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17-18.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reading describes unrestricted private judgment as a return to the problem political society was meant to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18-20.</a:t>
            </a:r>
          </a:p>
          <a:p xmlns:a="http://schemas.openxmlformats.org/drawingml/2006/main">
            <a:r>
              <a:t>Visual: original editorial illustration generated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resolve the chapter more strongly than the source does. Philosophical anarchism has merit in theory, while conflicting moral judgment makes it unattractive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18-20.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review the path. The state of nature supports the case for order. It does not, by itself, show who may rule, how, or with what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paraphrases the source reading. Direct quotations and bibliographic details remain in the assigned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material, “01a Justifying the State - Intro,” source PDF, pp. 1-20.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1fe299600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9529907f44028" /><Relationship Type="http://schemas.openxmlformats.org/officeDocument/2006/relationships/slideLayout" Target="/ppt/slideLayouts/slideLayout1.xml" Id="R1c0650f53ba2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0650f53ba2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020e49ed49ed" /><Relationship Type="http://schemas.openxmlformats.org/officeDocument/2006/relationships/image" Target="/ppt/media/image.png" Id="Rad05e4ca0f814fd1" /><Relationship Type="http://schemas.openxmlformats.org/officeDocument/2006/relationships/notesSlide" Target="/ppt/notesSlides/notesSlide1.xml" Id="R5bd3f322408b43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0390ec6ce45fb" /><Relationship Type="http://schemas.openxmlformats.org/officeDocument/2006/relationships/notesSlide" Target="/ppt/notesSlides/notesSlide2.xml" Id="R0e4957b61a61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a39f33f254c02" /><Relationship Type="http://schemas.openxmlformats.org/officeDocument/2006/relationships/notesSlide" Target="/ppt/notesSlides/notesSlide3.xml" Id="R388564fce92f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5936d5dbb4e03" /><Relationship Type="http://schemas.openxmlformats.org/officeDocument/2006/relationships/notesSlide" Target="/ppt/notesSlides/notesSlide4.xml" Id="R2ffe3b98da094e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9f201d31c4296" /><Relationship Type="http://schemas.openxmlformats.org/officeDocument/2006/relationships/notesSlide" Target="/ppt/notesSlides/notesSlide5.xml" Id="R73c9cb21d5c146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4dc950ece4129" /><Relationship Type="http://schemas.openxmlformats.org/officeDocument/2006/relationships/notesSlide" Target="/ppt/notesSlides/notesSlide6.xml" Id="Rf9f4d6cf02664c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1365b0f34a13" /><Relationship Type="http://schemas.openxmlformats.org/officeDocument/2006/relationships/notesSlide" Target="/ppt/notesSlides/notesSlide7.xml" Id="R2a984c44a4dd47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9a788cb044387" /><Relationship Type="http://schemas.openxmlformats.org/officeDocument/2006/relationships/notesSlide" Target="/ppt/notesSlides/notesSlide8.xml" Id="Rb6923dc8596b4b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d6c8281be46bc" /><Relationship Type="http://schemas.openxmlformats.org/officeDocument/2006/relationships/notesSlide" Target="/ppt/notesSlides/notesSlide9.xml" Id="Rc16b634fb0ac4e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1611435774313" /><Relationship Type="http://schemas.openxmlformats.org/officeDocument/2006/relationships/notesSlide" Target="/ppt/notesSlides/notesSlide10.xml" Id="Rf8693d0fa0854b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4e551ecd642b4" /><Relationship Type="http://schemas.openxmlformats.org/officeDocument/2006/relationships/image" Target="/ppt/media/image2.png" Id="Rb64634b768a04059" /><Relationship Type="http://schemas.openxmlformats.org/officeDocument/2006/relationships/notesSlide" Target="/ppt/notesSlides/notesSlide11.xml" Id="Rdab8ae6c532142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26a094644539" /><Relationship Type="http://schemas.openxmlformats.org/officeDocument/2006/relationships/notesSlide" Target="/ppt/notesSlides/notesSlide12.xml" Id="R96f59aa107e64b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adeb67c444ee9" /><Relationship Type="http://schemas.openxmlformats.org/officeDocument/2006/relationships/notesSlide" Target="/ppt/notesSlides/notesSlide13.xml" Id="R95ca696968f642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581c3bb174049" /><Relationship Type="http://schemas.openxmlformats.org/officeDocument/2006/relationships/notesSlide" Target="/ppt/notesSlides/notesSlide14.xml" Id="R3a8e56a1b1bb4f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d9caae17d4cb7" /><Relationship Type="http://schemas.openxmlformats.org/officeDocument/2006/relationships/image" Target="/ppt/media/image3.png" Id="R4f8587694a704f35" /><Relationship Type="http://schemas.openxmlformats.org/officeDocument/2006/relationships/notesSlide" Target="/ppt/notesSlides/notesSlide15.xml" Id="R271b085f1f964d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bb2dc859145f1" /><Relationship Type="http://schemas.openxmlformats.org/officeDocument/2006/relationships/notesSlide" Target="/ppt/notesSlides/notesSlide16.xml" Id="Re4cfafa56f7d4f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34d219e6448a5" /><Relationship Type="http://schemas.openxmlformats.org/officeDocument/2006/relationships/notesSlide" Target="/ppt/notesSlides/notesSlide17.xml" Id="R849994e2dfcf4b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9e457506a48d3" /><Relationship Type="http://schemas.openxmlformats.org/officeDocument/2006/relationships/notesSlide" Target="/ppt/notesSlides/notesSlide18.xml" Id="R3fa2a84413fe40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523c585b04043" /><Relationship Type="http://schemas.openxmlformats.org/officeDocument/2006/relationships/notesSlide" Target="/ppt/notesSlides/notesSlide19.xml" Id="Rf0554d1c61714a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9e9f6d3ad4f37" /><Relationship Type="http://schemas.openxmlformats.org/officeDocument/2006/relationships/notesSlide" Target="/ppt/notesSlides/notesSlide20.xml" Id="Rce7005a312d14c4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c575d5a17439a" /><Relationship Type="http://schemas.openxmlformats.org/officeDocument/2006/relationships/notesSlide" Target="/ppt/notesSlides/notesSlide21.xml" Id="R64f9ba50bb8c47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df2a41d83452d" /><Relationship Type="http://schemas.openxmlformats.org/officeDocument/2006/relationships/image" Target="/ppt/media/image4.png" Id="R65f30d03dfca4b25" /><Relationship Type="http://schemas.openxmlformats.org/officeDocument/2006/relationships/notesSlide" Target="/ppt/notesSlides/notesSlide22.xml" Id="R5037412120bd40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9a94d25c49d2" /><Relationship Type="http://schemas.openxmlformats.org/officeDocument/2006/relationships/notesSlide" Target="/ppt/notesSlides/notesSlide23.xml" Id="Rd765ee6476f348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e12ef4cb34d0f" /><Relationship Type="http://schemas.openxmlformats.org/officeDocument/2006/relationships/notesSlide" Target="/ppt/notesSlides/notesSlide24.xml" Id="R620cdc5e6c344b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94ce6d3524b7c" /><Relationship Type="http://schemas.openxmlformats.org/officeDocument/2006/relationships/notesSlide" Target="/ppt/notesSlides/notesSlide25.xml" Id="R512394f624ba47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5e4ca0f814fd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copy-surface">
            <a:extLst xmlns:a="http://schemas.openxmlformats.org/drawingml/2006/main">
              <a:ext uri="{FF2B5EF4-FFF2-40B4-BE49-F238E27FC236}">
                <a16:creationId xmlns:a16="http://schemas.microsoft.com/office/drawing/2014/main" id="{86084463-3A70-4DFB-BCAB-9F612652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58102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DF"/>
          </a:solidFill>
          <a:ln xmlns:a="http://schemas.openxmlformats.org/drawingml/2006/main" w="0">
            <a:noFill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8D36145-0A60-4057-B1DD-402D6926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CBF322F-E441-47E1-B067-BAE5708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POLITICAL PHILOSOPHY · UNIT 2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6AFCEE1-C879-4DD8-9DEC-8DF10667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58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Justifying the State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3ABD2E-D7BA-41D0-8C77-BDF9B3E1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5E5B55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5E5B55"/>
                </a:solidFill>
                <a:latin typeface="Georgia"/>
                <a:ea typeface="Georgia"/>
                <a:cs typeface="Georgia"/>
              </a:rPr>
              <a:t>Political obligation and the social contract</a:t>
            </a:r>
          </a:p>
        </p:txBody>
      </p:sp>
      <p:sp>
        <p:nvSpPr>
          <p:cNvPr id="7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94773C9F-9BF7-4D53-9314-9F21DD82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From a reason to want order to a reason to obey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04791C2-E361-456A-A396-7CEC461C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6435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661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79A6B96-FC7D-4413-A04C-8C3016B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90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564"/>
          </a:solidFill>
          <a:ln xmlns:a="http://schemas.openxmlformats.org/drawingml/2006/main" w="0">
            <a:noFill/>
          </a:ln>
        </p:spPr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474745F9-23DB-482C-A7AC-5A44326F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AF9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D9AF9B"/>
                </a:solidFill>
                <a:latin typeface="Consolas"/>
                <a:ea typeface="Consolas"/>
                <a:cs typeface="Consolas"/>
              </a:rPr>
              <a:t>INTRODUCTION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385D61E-C056-427A-BCE4-9AC56DF2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F3ECDF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F3ECDF"/>
                </a:solidFill>
                <a:latin typeface="Georgia"/>
                <a:ea typeface="Georgia"/>
                <a:cs typeface="Georgia"/>
              </a:rPr>
              <a:t>The question after the state of nature</a:t>
            </a:r>
          </a:p>
        </p:txBody>
      </p:sp>
      <p:sp>
        <p:nvSpPr>
          <p:cNvPr id="4" name="section-lead">
            <a:extLst xmlns:a="http://schemas.openxmlformats.org/drawingml/2006/main">
              <a:ext uri="{FF2B5EF4-FFF2-40B4-BE49-F238E27FC236}">
                <a16:creationId xmlns:a16="http://schemas.microsoft.com/office/drawing/2014/main" id="{44898CE0-9A98-44A3-B505-85305F30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E4D8C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E4D8C7"/>
                </a:solidFill>
                <a:latin typeface="Arial"/>
                <a:ea typeface="Arial"/>
                <a:cs typeface="Arial"/>
              </a:rPr>
              <a:t>The earlier thought experiments supplied a baseline. This unit asks what could give political power moral authority.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08CB42-E8BD-49C3-A7DF-489DC677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2311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602A6546-A948-474A-A74E-9348E730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TWO METHODS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56A945-AD73-4BE5-B1C2-B319B685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State of nature and state justification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17DE2C8-8EBD-441D-BFB2-49EAB30A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9A12B9CD-0140-4563-8130-828072EF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61673299-3946-469A-81C3-56038FCC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STATE OF NATURE</a:t>
            </a:r>
          </a:p>
        </p:txBody>
      </p:sp>
      <p:sp>
        <p:nvSpPr>
          <p:cNvPr id="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CF0B3AD8-F737-4ED4-8257-3D8252B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 counterfactual baseline</a:t>
            </a:r>
          </a:p>
        </p:txBody>
      </p:sp>
      <p:sp>
        <p:nvSpPr>
          <p:cNvPr id="7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C2D4F045-6430-495E-AE0F-198B68F2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Remove political authority, and sometimes developed society, to identify the problems that appear and the rights that remain.</a:t>
            </a:r>
          </a:p>
        </p:txBody>
      </p:sp>
      <p:sp>
        <p:nvSpPr>
          <p:cNvPr id="8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3A816530-B460-479E-A175-9CFD6CDF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column-result-1">
            <a:extLst xmlns:a="http://schemas.openxmlformats.org/drawingml/2006/main">
              <a:ext uri="{FF2B5EF4-FFF2-40B4-BE49-F238E27FC236}">
                <a16:creationId xmlns:a16="http://schemas.microsoft.com/office/drawing/2014/main" id="{89E32C1E-057B-49D3-9841-1B3A2A81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Result: a standard for judging what political society secures or costs.</a:t>
            </a:r>
          </a:p>
        </p:txBody>
      </p:sp>
      <p:sp>
        <p:nvSpPr>
          <p:cNvPr id="10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4B0F64D1-5DFC-4448-A3D2-AADA1A2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JUSTIFYING THE STATE</a:t>
            </a:r>
          </a:p>
        </p:txBody>
      </p:sp>
      <p:sp>
        <p:nvSpPr>
          <p:cNvPr id="11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821E3D15-DC95-4D36-BC04-4BB6266D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 claim to moral authority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0DB9ABFB-C277-4120-91AA-A5A22A1D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Begin with an institution that legislates, taxes, punishes, and claims the right to direct everyone within its territory.</a:t>
            </a:r>
          </a:p>
        </p:txBody>
      </p:sp>
      <p:sp>
        <p:nvSpPr>
          <p:cNvPr id="13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6E3B1161-913B-43B1-8F0B-C1D2B63D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column-result-2">
            <a:extLst xmlns:a="http://schemas.openxmlformats.org/drawingml/2006/main">
              <a:ext uri="{FF2B5EF4-FFF2-40B4-BE49-F238E27FC236}">
                <a16:creationId xmlns:a16="http://schemas.microsoft.com/office/drawing/2014/main" id="{2294791A-BD91-4614-B000-3517AFCD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Result: a reason for obedience and an account of when legitimacy can fail.</a:t>
            </a:r>
          </a:p>
        </p:txBody>
      </p:sp>
      <p:sp>
        <p:nvSpPr>
          <p:cNvPr id="15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6168FBE-7F02-435D-AB16-38751766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6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A0E2E52-E9EA-4C9D-A2F7-587DD8F6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A state may be necessary or beneficial without yet having a right to rule.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224D4A-2257-4F69-8D17-F9B8715E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9921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BF20E69-61C5-41C4-9BEE-D50B778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CENTRAL DISTINCTION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B21D89-B639-45D2-8397-39591E1D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Need and legitimacy answer different questions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486A2B-3ECC-4A75-9AC3-DE1DDFC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tatement">
            <a:extLst xmlns:a="http://schemas.openxmlformats.org/drawingml/2006/main">
              <a:ext uri="{FF2B5EF4-FFF2-40B4-BE49-F238E27FC236}">
                <a16:creationId xmlns:a16="http://schemas.microsoft.com/office/drawing/2014/main" id="{E808D968-38D1-47C4-B5A1-15548966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Life without a state may be intolerable. Political authority still needs a moral title to rule each person.</a:t>
            </a:r>
          </a:p>
        </p:txBody>
      </p:sp>
      <p:sp>
        <p:nvSpPr>
          <p:cNvPr id="5" name="side-accent">
            <a:extLst xmlns:a="http://schemas.openxmlformats.org/drawingml/2006/main">
              <a:ext uri="{FF2B5EF4-FFF2-40B4-BE49-F238E27FC236}">
                <a16:creationId xmlns:a16="http://schemas.microsoft.com/office/drawing/2014/main" id="{7B5B827A-ED5E-4BD0-8675-92EA7C39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75"/>
          </a:solidFill>
          <a:ln xmlns:a="http://schemas.openxmlformats.org/drawingml/2006/main" w="0">
            <a:noFill/>
          </a:ln>
        </p:spPr>
      </p:sp>
      <p:sp>
        <p:nvSpPr>
          <p:cNvPr id="6" name="side-label">
            <a:extLst xmlns:a="http://schemas.openxmlformats.org/drawingml/2006/main">
              <a:ext uri="{FF2B5EF4-FFF2-40B4-BE49-F238E27FC236}">
                <a16:creationId xmlns:a16="http://schemas.microsoft.com/office/drawing/2014/main" id="{12B8DCAE-9997-4ED1-B595-496BBB31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LOCKE’S PROBLEM</a:t>
            </a:r>
          </a:p>
        </p:txBody>
      </p:sp>
      <p:sp>
        <p:nvSpPr>
          <p:cNvPr id="7" name="side-text">
            <a:extLst xmlns:a="http://schemas.openxmlformats.org/drawingml/2006/main">
              <a:ext uri="{FF2B5EF4-FFF2-40B4-BE49-F238E27FC236}">
                <a16:creationId xmlns:a16="http://schemas.microsoft.com/office/drawing/2014/main" id="{E9B3CE68-CEE6-4C94-909F-7EE4CFF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How can lawmaking power over naturally free and equal people arise without violating their freedom?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4E6AFB0-3BEE-4442-8CE2-55D4CB99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9294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DA7B8D83-45FE-44F3-BA84-0C03FCAE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GOAL OF JUSTIFICATION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C53D63-3187-45D3-831E-0714BBA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Negative and positive justification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435900-4481-4DBF-A2DD-EC3D5F6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FE23D2AE-0C81-43A1-B86D-AAEBA88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EA85E68B-1639-4A7A-9C0D-42934F0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NEGATIVE</a:t>
            </a:r>
          </a:p>
        </p:txBody>
      </p:sp>
      <p:sp>
        <p:nvSpPr>
          <p:cNvPr id="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14DCFA4A-7DAB-4677-9B9C-392BCC89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No better alternative</a:t>
            </a:r>
          </a:p>
        </p:txBody>
      </p:sp>
      <p:sp>
        <p:nvSpPr>
          <p:cNvPr id="7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2EA7CED9-AD06-42DE-989D-491C807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state appears justified because life without enforceable restraints seems worse and no workable substitute is available.</a:t>
            </a:r>
          </a:p>
        </p:txBody>
      </p:sp>
      <p:sp>
        <p:nvSpPr>
          <p:cNvPr id="8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653143BD-B073-496E-89FE-1777A524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column-result-1">
            <a:extLst xmlns:a="http://schemas.openxmlformats.org/drawingml/2006/main">
              <a:ext uri="{FF2B5EF4-FFF2-40B4-BE49-F238E27FC236}">
                <a16:creationId xmlns:a16="http://schemas.microsoft.com/office/drawing/2014/main" id="{97C7379D-08BD-4119-9928-652F3580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This explains why we may need a state.</a:t>
            </a:r>
          </a:p>
        </p:txBody>
      </p:sp>
      <p:sp>
        <p:nvSpPr>
          <p:cNvPr id="10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447E22F3-624F-48BB-8080-19899AF9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POSITIVE</a:t>
            </a:r>
          </a:p>
        </p:txBody>
      </p:sp>
      <p:sp>
        <p:nvSpPr>
          <p:cNvPr id="11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63DB9030-7C92-4E47-B827-6414150D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 moral reason to obey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6EB718DE-4AE5-4407-99F7-4D0C9D0F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successful argument explains why law can bind residents and when the state loses its claim to their obedience.</a:t>
            </a:r>
          </a:p>
        </p:txBody>
      </p:sp>
      <p:sp>
        <p:nvSpPr>
          <p:cNvPr id="13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E2807EFF-DAD0-4244-9079-9581B79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column-result-2">
            <a:extLst xmlns:a="http://schemas.openxmlformats.org/drawingml/2006/main">
              <a:ext uri="{FF2B5EF4-FFF2-40B4-BE49-F238E27FC236}">
                <a16:creationId xmlns:a16="http://schemas.microsoft.com/office/drawing/2014/main" id="{1A1F047A-511C-497A-B6A9-34CC912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This aims to establish political obligation.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1630E0-FDB1-4490-A150-EE77811B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831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140FC6FE-A050-4B08-A04E-389EB0DF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OBJECT OF JUSTIFICATION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A63643-FE63-4EBB-87BD-BB2A988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The state claims coercive authority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C43BB1-8AFF-49C1-ADFC-4032ED11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row-rule-1">
            <a:extLst xmlns:a="http://schemas.openxmlformats.org/drawingml/2006/main">
              <a:ext uri="{FF2B5EF4-FFF2-40B4-BE49-F238E27FC236}">
                <a16:creationId xmlns:a16="http://schemas.microsoft.com/office/drawing/2014/main" id="{235DCB7F-FAF4-49FC-B813-189EF85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5" name="row-number-1">
            <a:extLst xmlns:a="http://schemas.openxmlformats.org/drawingml/2006/main">
              <a:ext uri="{FF2B5EF4-FFF2-40B4-BE49-F238E27FC236}">
                <a16:creationId xmlns:a16="http://schemas.microsoft.com/office/drawing/2014/main" id="{87DECE66-C348-454E-8616-16005E62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row-heading-1">
            <a:extLst xmlns:a="http://schemas.openxmlformats.org/drawingml/2006/main">
              <a:ext uri="{FF2B5EF4-FFF2-40B4-BE49-F238E27FC236}">
                <a16:creationId xmlns:a16="http://schemas.microsoft.com/office/drawing/2014/main" id="{80813149-171C-4DE7-9FD6-095DDA5D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State and nation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498C55A5-9BED-4F91-A61D-1D4D8AD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state is a political entity. A nation is a cultural community shaped by language, history, religion, traditions, or memory.</a:t>
            </a:r>
          </a:p>
        </p:txBody>
      </p:sp>
      <p:sp>
        <p:nvSpPr>
          <p:cNvPr id="8" name="row-rule-2">
            <a:extLst xmlns:a="http://schemas.openxmlformats.org/drawingml/2006/main">
              <a:ext uri="{FF2B5EF4-FFF2-40B4-BE49-F238E27FC236}">
                <a16:creationId xmlns:a16="http://schemas.microsoft.com/office/drawing/2014/main" id="{CAADAA0D-18EE-427E-B82A-091EDC9F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row-number-2">
            <a:extLst xmlns:a="http://schemas.openxmlformats.org/drawingml/2006/main">
              <a:ext uri="{FF2B5EF4-FFF2-40B4-BE49-F238E27FC236}">
                <a16:creationId xmlns:a16="http://schemas.microsoft.com/office/drawing/2014/main" id="{D55C21BA-9F89-4CD6-955E-A8619AF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row-heading-2">
            <a:extLst xmlns:a="http://schemas.openxmlformats.org/drawingml/2006/main">
              <a:ext uri="{FF2B5EF4-FFF2-40B4-BE49-F238E27FC236}">
                <a16:creationId xmlns:a16="http://schemas.microsoft.com/office/drawing/2014/main" id="{405CE4AD-691E-4E6C-B091-135F1C1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Law and force</a:t>
            </a:r>
          </a:p>
        </p:txBody>
      </p:sp>
      <p:sp>
        <p:nvSpPr>
          <p:cNvPr id="11" name="row-body-2">
            <a:extLst xmlns:a="http://schemas.openxmlformats.org/drawingml/2006/main">
              <a:ext uri="{FF2B5EF4-FFF2-40B4-BE49-F238E27FC236}">
                <a16:creationId xmlns:a16="http://schemas.microsoft.com/office/drawing/2014/main" id="{8A81828C-E867-4259-867D-0CD58436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2895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state claims the right to make laws and punish disobedience. Weber describes a monopoly of legitimate physical force within a territory.</a:t>
            </a:r>
          </a:p>
        </p:txBody>
      </p:sp>
      <p:sp>
        <p:nvSpPr>
          <p:cNvPr id="12" name="row-rule-3">
            <a:extLst xmlns:a="http://schemas.openxmlformats.org/drawingml/2006/main">
              <a:ext uri="{FF2B5EF4-FFF2-40B4-BE49-F238E27FC236}">
                <a16:creationId xmlns:a16="http://schemas.microsoft.com/office/drawing/2014/main" id="{97893FC4-1909-46DA-89C2-47EE03FF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3" name="row-number-3">
            <a:extLst xmlns:a="http://schemas.openxmlformats.org/drawingml/2006/main">
              <a:ext uri="{FF2B5EF4-FFF2-40B4-BE49-F238E27FC236}">
                <a16:creationId xmlns:a16="http://schemas.microsoft.com/office/drawing/2014/main" id="{402F60F4-AC76-4FA5-9CDD-47961999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row-heading-3">
            <a:extLst xmlns:a="http://schemas.openxmlformats.org/drawingml/2006/main">
              <a:ext uri="{FF2B5EF4-FFF2-40B4-BE49-F238E27FC236}">
                <a16:creationId xmlns:a16="http://schemas.microsoft.com/office/drawing/2014/main" id="{94163902-E72E-42BD-97CF-83C64649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Protection</a:t>
            </a:r>
          </a:p>
        </p:txBody>
      </p:sp>
      <p:sp>
        <p:nvSpPr>
          <p:cNvPr id="15" name="row-body-3">
            <a:extLst xmlns:a="http://schemas.openxmlformats.org/drawingml/2006/main">
              <a:ext uri="{FF2B5EF4-FFF2-40B4-BE49-F238E27FC236}">
                <a16:creationId xmlns:a16="http://schemas.microsoft.com/office/drawing/2014/main" id="{7822A9F3-09E2-4738-8231-D61ACDD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2430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state offers protection from illegitimate force and asks residents to surrender much of their private enforcement power.</a:t>
            </a:r>
          </a:p>
        </p:txBody>
      </p:sp>
      <p:sp>
        <p:nvSpPr>
          <p:cNvPr id="16" name="row-rule-4">
            <a:extLst xmlns:a="http://schemas.openxmlformats.org/drawingml/2006/main">
              <a:ext uri="{FF2B5EF4-FFF2-40B4-BE49-F238E27FC236}">
                <a16:creationId xmlns:a16="http://schemas.microsoft.com/office/drawing/2014/main" id="{C0FFE92C-8727-43C2-A2FC-07909AE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7" name="row-number-4">
            <a:extLst xmlns:a="http://schemas.openxmlformats.org/drawingml/2006/main">
              <a:ext uri="{FF2B5EF4-FFF2-40B4-BE49-F238E27FC236}">
                <a16:creationId xmlns:a16="http://schemas.microsoft.com/office/drawing/2014/main" id="{05E3E004-A783-436E-99CE-21483D39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8" name="row-heading-4">
            <a:extLst xmlns:a="http://schemas.openxmlformats.org/drawingml/2006/main">
              <a:ext uri="{FF2B5EF4-FFF2-40B4-BE49-F238E27FC236}">
                <a16:creationId xmlns:a16="http://schemas.microsoft.com/office/drawing/2014/main" id="{E0BA6812-EA88-4F27-AAF1-6451F62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2917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Ideal type</a:t>
            </a:r>
          </a:p>
        </p:txBody>
      </p:sp>
      <p:sp>
        <p:nvSpPr>
          <p:cNvPr id="19" name="row-body-4">
            <a:extLst xmlns:a="http://schemas.openxmlformats.org/drawingml/2006/main">
              <a:ext uri="{FF2B5EF4-FFF2-40B4-BE49-F238E27FC236}">
                <a16:creationId xmlns:a16="http://schemas.microsoft.com/office/drawing/2014/main" id="{8955E595-1A8C-451D-A865-0B031F3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1965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States may fail to monopolize force or protect everyone and still remain states. These features identify an aspiration, not a strict definition.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CAE7A1-EEEF-4ED5-A119-32E5A36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070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F7D9E5BC-4DCB-46BE-B6CD-B0ACD712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TARGET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39E8FA-CB3E-42A5-9AA3-3BF342BE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Political obligation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06C569-1424-4701-BFD2-C1F4B015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15B88E96-3B92-4DE8-B6AE-7B4FDF76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Political obligation means obeying a law because it is law, not only because the required act is independently moral.</a:t>
            </a:r>
          </a:p>
        </p:txBody>
      </p:sp>
      <p:sp>
        <p:nvSpPr>
          <p:cNvPr id="5" name="row-rule-1">
            <a:extLst xmlns:a="http://schemas.openxmlformats.org/drawingml/2006/main">
              <a:ext uri="{FF2B5EF4-FFF2-40B4-BE49-F238E27FC236}">
                <a16:creationId xmlns:a16="http://schemas.microsoft.com/office/drawing/2014/main" id="{F6E03BFC-025E-49A0-B9E8-3EA02277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6" name="row-number-1">
            <a:extLst xmlns:a="http://schemas.openxmlformats.org/drawingml/2006/main">
              <a:ext uri="{FF2B5EF4-FFF2-40B4-BE49-F238E27FC236}">
                <a16:creationId xmlns:a16="http://schemas.microsoft.com/office/drawing/2014/main" id="{69DF7A64-48BA-4473-9A65-36214E53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row-heading-1">
            <a:extLst xmlns:a="http://schemas.openxmlformats.org/drawingml/2006/main">
              <a:ext uri="{FF2B5EF4-FFF2-40B4-BE49-F238E27FC236}">
                <a16:creationId xmlns:a16="http://schemas.microsoft.com/office/drawing/2014/main" id="{E3A96720-95C0-4BD0-83A7-FF93337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622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Murder</a:t>
            </a:r>
          </a:p>
        </p:txBody>
      </p:sp>
      <p:sp>
        <p:nvSpPr>
          <p:cNvPr id="8" name="row-body-1">
            <a:extLst xmlns:a="http://schemas.openxmlformats.org/drawingml/2006/main">
              <a:ext uri="{FF2B5EF4-FFF2-40B4-BE49-F238E27FC236}">
                <a16:creationId xmlns:a16="http://schemas.microsoft.com/office/drawing/2014/main" id="{DF7DB52C-9B02-45B9-BF17-C3FC3DBD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5275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Independent morality already supplies the reason. The law coincides with a duty that exists without legislation.</a:t>
            </a:r>
          </a:p>
        </p:txBody>
      </p:sp>
      <p:sp>
        <p:nvSpPr>
          <p:cNvPr id="9" name="row-rule-2">
            <a:extLst xmlns:a="http://schemas.openxmlformats.org/drawingml/2006/main">
              <a:ext uri="{FF2B5EF4-FFF2-40B4-BE49-F238E27FC236}">
                <a16:creationId xmlns:a16="http://schemas.microsoft.com/office/drawing/2014/main" id="{6E2F9959-5459-4DFE-9B46-D7B09736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0" name="row-number-2">
            <a:extLst xmlns:a="http://schemas.openxmlformats.org/drawingml/2006/main">
              <a:ext uri="{FF2B5EF4-FFF2-40B4-BE49-F238E27FC236}">
                <a16:creationId xmlns:a16="http://schemas.microsoft.com/office/drawing/2014/main" id="{140FE5C1-C9CF-4E2D-9D18-7D093965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row-heading-2">
            <a:extLst xmlns:a="http://schemas.openxmlformats.org/drawingml/2006/main">
              <a:ext uri="{FF2B5EF4-FFF2-40B4-BE49-F238E27FC236}">
                <a16:creationId xmlns:a16="http://schemas.microsoft.com/office/drawing/2014/main" id="{B00AF343-0E1C-4507-8DEB-D55E1B2C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Red light</a:t>
            </a:r>
          </a:p>
        </p:txBody>
      </p:sp>
      <p:sp>
        <p:nvSpPr>
          <p:cNvPr id="12" name="row-body-2">
            <a:extLst xmlns:a="http://schemas.openxmlformats.org/drawingml/2006/main">
              <a:ext uri="{FF2B5EF4-FFF2-40B4-BE49-F238E27FC236}">
                <a16:creationId xmlns:a16="http://schemas.microsoft.com/office/drawing/2014/main" id="{41F55584-3223-4CA0-817D-8265D4C4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5760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At a deserted intersection, the legal rule may supply the central reason to stop.</a:t>
            </a:r>
          </a:p>
        </p:txBody>
      </p:sp>
      <p:sp>
        <p:nvSpPr>
          <p:cNvPr id="13" name="row-rule-3">
            <a:extLst xmlns:a="http://schemas.openxmlformats.org/drawingml/2006/main">
              <a:ext uri="{FF2B5EF4-FFF2-40B4-BE49-F238E27FC236}">
                <a16:creationId xmlns:a16="http://schemas.microsoft.com/office/drawing/2014/main" id="{FEFDF0ED-6D47-4FEB-B7AB-E45533A8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row-number-3">
            <a:extLst xmlns:a="http://schemas.openxmlformats.org/drawingml/2006/main">
              <a:ext uri="{FF2B5EF4-FFF2-40B4-BE49-F238E27FC236}">
                <a16:creationId xmlns:a16="http://schemas.microsoft.com/office/drawing/2014/main" id="{5F2ADA56-7D5B-4CC5-A540-BDDBC59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row-heading-3">
            <a:extLst xmlns:a="http://schemas.openxmlformats.org/drawingml/2006/main">
              <a:ext uri="{FF2B5EF4-FFF2-40B4-BE49-F238E27FC236}">
                <a16:creationId xmlns:a16="http://schemas.microsoft.com/office/drawing/2014/main" id="{81398E75-C366-4146-9487-84B6466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719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Tax</a:t>
            </a:r>
          </a:p>
        </p:txBody>
      </p:sp>
      <p:sp>
        <p:nvSpPr>
          <p:cNvPr id="16" name="row-body-3">
            <a:extLst xmlns:a="http://schemas.openxmlformats.org/drawingml/2006/main">
              <a:ext uri="{FF2B5EF4-FFF2-40B4-BE49-F238E27FC236}">
                <a16:creationId xmlns:a16="http://schemas.microsoft.com/office/drawing/2014/main" id="{17A2250E-BC71-4590-B041-5A4726A7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6245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citizen may oppose a funded policy and still believe the tax law has a claim on them.</a:t>
            </a:r>
          </a:p>
        </p:txBody>
      </p:sp>
      <p:sp>
        <p:nvSpPr>
          <p:cNvPr id="17" name="row-rule-4">
            <a:extLst xmlns:a="http://schemas.openxmlformats.org/drawingml/2006/main">
              <a:ext uri="{FF2B5EF4-FFF2-40B4-BE49-F238E27FC236}">
                <a16:creationId xmlns:a16="http://schemas.microsoft.com/office/drawing/2014/main" id="{D60AA488-F977-4914-8733-50DE754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8" name="row-number-4">
            <a:extLst xmlns:a="http://schemas.openxmlformats.org/drawingml/2006/main">
              <a:ext uri="{FF2B5EF4-FFF2-40B4-BE49-F238E27FC236}">
                <a16:creationId xmlns:a16="http://schemas.microsoft.com/office/drawing/2014/main" id="{38051CEB-D6BF-46A9-8C10-B213491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row-heading-4">
            <a:extLst xmlns:a="http://schemas.openxmlformats.org/drawingml/2006/main">
              <a:ext uri="{FF2B5EF4-FFF2-40B4-BE49-F238E27FC236}">
                <a16:creationId xmlns:a16="http://schemas.microsoft.com/office/drawing/2014/main" id="{E5A848A3-4766-459D-A71E-DF094FF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Universal</a:t>
            </a:r>
          </a:p>
        </p:txBody>
      </p:sp>
      <p:sp>
        <p:nvSpPr>
          <p:cNvPr id="20" name="row-body-4">
            <a:extLst xmlns:a="http://schemas.openxmlformats.org/drawingml/2006/main">
              <a:ext uri="{FF2B5EF4-FFF2-40B4-BE49-F238E27FC236}">
                <a16:creationId xmlns:a16="http://schemas.microsoft.com/office/drawing/2014/main" id="{1DF23F1F-1014-410F-B6B9-EF21DA22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6730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proposed duty reaches everyone within the territory. It remains defeasible in exceptional circumstances.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D0CCD5-9B38-449B-ADD4-2DCAC811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5716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6373A93D-DCA6-4A4B-B296-9BB1DEB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CHAPTER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825A68-FDB3-49E5-AFC6-66445C9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Two routes to justification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9AE958B-CDAA-413E-9279-07B369AB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1BBF461B-6EC0-48EE-BDFE-231ACBED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A64A38B7-71E5-47D9-B779-58D5CD29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LOCKE</a:t>
            </a:r>
          </a:p>
        </p:txBody>
      </p:sp>
      <p:sp>
        <p:nvSpPr>
          <p:cNvPr id="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1DA9BFDD-B9C9-4624-899E-51895AE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Consent and autonomy</a:t>
            </a:r>
          </a:p>
        </p:txBody>
      </p:sp>
      <p:sp>
        <p:nvSpPr>
          <p:cNvPr id="7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AC455F05-A3A3-4281-B1D6-FDF7A613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Political institutions must be justified through the will, choices, or decisions of the people over whom they claim authority.</a:t>
            </a:r>
          </a:p>
        </p:txBody>
      </p:sp>
      <p:sp>
        <p:nvSpPr>
          <p:cNvPr id="8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5882A4F6-F707-4D86-9421-D0AA5309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column-result-1">
            <a:extLst xmlns:a="http://schemas.openxmlformats.org/drawingml/2006/main">
              <a:ext uri="{FF2B5EF4-FFF2-40B4-BE49-F238E27FC236}">
                <a16:creationId xmlns:a16="http://schemas.microsoft.com/office/drawing/2014/main" id="{2539CA77-870E-495A-AC88-AAF3EA31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The state is legitimate only if each person has consented.</a:t>
            </a:r>
          </a:p>
        </p:txBody>
      </p:sp>
      <p:sp>
        <p:nvSpPr>
          <p:cNvPr id="10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A4E294F5-8997-42C1-9A3B-315DF08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BENTHAM</a:t>
            </a:r>
          </a:p>
        </p:txBody>
      </p:sp>
      <p:sp>
        <p:nvSpPr>
          <p:cNvPr id="11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7716FAD0-7CEB-4323-97E4-E528762F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Utility and happiness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2A42B529-A724-48B3-AA54-BE9847D7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state is justified if it produces more total happiness than any available alternative. Consent does not carry the argument.</a:t>
            </a:r>
          </a:p>
        </p:txBody>
      </p:sp>
      <p:sp>
        <p:nvSpPr>
          <p:cNvPr id="13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15D3B88E-2229-4E54-A122-7D90D6E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column-result-2">
            <a:extLst xmlns:a="http://schemas.openxmlformats.org/drawingml/2006/main">
              <a:ext uri="{FF2B5EF4-FFF2-40B4-BE49-F238E27FC236}">
                <a16:creationId xmlns:a16="http://schemas.microsoft.com/office/drawing/2014/main" id="{DD413BC3-3D08-4A64-BDA3-87120AC1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The reading’s first test follows Locke’s consent route.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429F61-38AC-4AF1-9B92-CD53DF5C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1109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661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48F9B7E-1ED5-4865-9B7F-67B8057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90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564"/>
          </a:solidFill>
          <a:ln xmlns:a="http://schemas.openxmlformats.org/drawingml/2006/main" w="0">
            <a:noFill/>
          </a:ln>
        </p:spPr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40CA5BBD-038C-4B99-8520-8796D9C8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AF9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D9AF9B"/>
                </a:solidFill>
                <a:latin typeface="Consolas"/>
                <a:ea typeface="Consolas"/>
                <a:cs typeface="Consolas"/>
              </a:rPr>
              <a:t>THE SOCIAL CONTRACT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C1F17D9-556B-454C-B84C-BF1401D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F3ECDF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F3ECDF"/>
                </a:solidFill>
                <a:latin typeface="Georgia"/>
                <a:ea typeface="Georgia"/>
                <a:cs typeface="Georgia"/>
              </a:rPr>
              <a:t>Consent as the source of authority</a:t>
            </a:r>
          </a:p>
        </p:txBody>
      </p:sp>
      <p:sp>
        <p:nvSpPr>
          <p:cNvPr id="4" name="section-lead">
            <a:extLst xmlns:a="http://schemas.openxmlformats.org/drawingml/2006/main">
              <a:ext uri="{FF2B5EF4-FFF2-40B4-BE49-F238E27FC236}">
                <a16:creationId xmlns:a16="http://schemas.microsoft.com/office/drawing/2014/main" id="{27AE6CC2-F65A-403D-A137-520D24E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E4D8C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E4D8C7"/>
                </a:solidFill>
                <a:latin typeface="Arial"/>
                <a:ea typeface="Arial"/>
                <a:cs typeface="Arial"/>
              </a:rPr>
              <a:t>The contract promises to turn natural freedom into political obligation without giving the state authority by default.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09D062-BBB7-46A7-8437-0778E84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1892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6EDB44D-FE36-4D40-B52A-68D2EDC0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VOLUNTARISM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881705-428C-4DCF-B6B6-F0117DAE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Political authority needs a voluntary act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8EA2C1-DF3E-4ABB-BDA4-8E651533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tatement">
            <a:extLst xmlns:a="http://schemas.openxmlformats.org/drawingml/2006/main">
              <a:ext uri="{FF2B5EF4-FFF2-40B4-BE49-F238E27FC236}">
                <a16:creationId xmlns:a16="http://schemas.microsoft.com/office/drawing/2014/main" id="{8F54F7DE-E3B0-45BD-BF67-CC1D42E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Another person can gain political power over me only through something I voluntarily do.</a:t>
            </a:r>
          </a:p>
        </p:txBody>
      </p:sp>
      <p:sp>
        <p:nvSpPr>
          <p:cNvPr id="5" name="side-accent">
            <a:extLst xmlns:a="http://schemas.openxmlformats.org/drawingml/2006/main">
              <a:ext uri="{FF2B5EF4-FFF2-40B4-BE49-F238E27FC236}">
                <a16:creationId xmlns:a16="http://schemas.microsoft.com/office/drawing/2014/main" id="{B7C6E26E-3EAF-4FD0-868D-77D1270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75"/>
          </a:solidFill>
          <a:ln xmlns:a="http://schemas.openxmlformats.org/drawingml/2006/main" w="0">
            <a:noFill/>
          </a:ln>
        </p:spPr>
      </p:sp>
      <p:sp>
        <p:nvSpPr>
          <p:cNvPr id="6" name="side-label">
            <a:extLst xmlns:a="http://schemas.openxmlformats.org/drawingml/2006/main">
              <a:ext uri="{FF2B5EF4-FFF2-40B4-BE49-F238E27FC236}">
                <a16:creationId xmlns:a16="http://schemas.microsoft.com/office/drawing/2014/main" id="{1C34913B-1E07-4D12-A27A-B0D3B54A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A CRUCIAL LIMIT</a:t>
            </a:r>
          </a:p>
        </p:txBody>
      </p:sp>
      <p:sp>
        <p:nvSpPr>
          <p:cNvPr id="7" name="side-text">
            <a:extLst xmlns:a="http://schemas.openxmlformats.org/drawingml/2006/main">
              <a:ext uri="{FF2B5EF4-FFF2-40B4-BE49-F238E27FC236}">
                <a16:creationId xmlns:a16="http://schemas.microsoft.com/office/drawing/2014/main" id="{D7568619-88F8-4E94-9A19-C996AA1C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Some moral duties exist without consent. The special problem concerns another person’s right to make laws for me and compel obedience.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0E30A7-A5AF-4F80-82A2-EC82C94F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02777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634b768a04059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EFDC0E4-734B-4DCC-8F4A-988A637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CONTRACT’S PROMISE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A1B7FE-7331-4979-91C0-470F7E15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Consent must reach every person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F5F087-00C8-4778-A99D-8DB7014F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5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15278BB-E092-4CA4-B3D0-1B0017E1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Voluntarism requires each political obligation to arise through a person’s consent.</a:t>
            </a:r>
          </a:p>
        </p:txBody>
      </p:sp>
      <p:sp>
        <p:nvSpPr>
          <p:cNvPr id="6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1B97DFE-B5C8-40B0-9BA9-1F5D6D35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Universalism requires every person whom the state governs to be genuinely obligated.</a:t>
            </a:r>
          </a:p>
        </p:txBody>
      </p:sp>
      <p:sp>
        <p:nvSpPr>
          <p:cNvPr id="7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B47B483-0E76-4C19-ACEF-140E9F73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2DD121A-D6DC-46AA-8715-F401F3F1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The theory succeeds only if voluntary consent can extend to everyone.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EE96B7-FBAE-4506-99D3-06052ADE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1664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D6D4BA7B-A25E-400B-AF01-C611CE1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HISTORICAL CONSENT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F85E13-31FA-47B2-A361-0DC9491D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An original contract cannot bind the present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59C3C1-BC7D-49B6-9D08-98E43FD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equence-rule-1">
            <a:extLst xmlns:a="http://schemas.openxmlformats.org/drawingml/2006/main">
              <a:ext uri="{FF2B5EF4-FFF2-40B4-BE49-F238E27FC236}">
                <a16:creationId xmlns:a16="http://schemas.microsoft.com/office/drawing/2014/main" id="{1EFFA4B6-85E8-4821-B744-67CAB33A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5" name="sequence-number-box-1">
            <a:extLst xmlns:a="http://schemas.openxmlformats.org/drawingml/2006/main">
              <a:ext uri="{FF2B5EF4-FFF2-40B4-BE49-F238E27FC236}">
                <a16:creationId xmlns:a16="http://schemas.microsoft.com/office/drawing/2014/main" id="{9BDB276E-D4D5-4910-8F26-3B13C11C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6" name="sequence-number-1">
            <a:extLst xmlns:a="http://schemas.openxmlformats.org/drawingml/2006/main">
              <a:ext uri="{FF2B5EF4-FFF2-40B4-BE49-F238E27FC236}">
                <a16:creationId xmlns:a16="http://schemas.microsoft.com/office/drawing/2014/main" id="{1AEBA02B-5655-4742-BA31-9D9B911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sequence-heading-1">
            <a:extLst xmlns:a="http://schemas.openxmlformats.org/drawingml/2006/main">
              <a:ext uri="{FF2B5EF4-FFF2-40B4-BE49-F238E27FC236}">
                <a16:creationId xmlns:a16="http://schemas.microsoft.com/office/drawing/2014/main" id="{C46C489E-B64C-405F-A87A-0E4A87E3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Evidence</a:t>
            </a:r>
          </a:p>
        </p:txBody>
      </p:sp>
      <p:sp>
        <p:nvSpPr>
          <p:cNvPr id="8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52755AA6-C154-4BC8-BAE5-E6B4BE19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193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founding contract should have left a historical trace, yet none can be identified.</a:t>
            </a:r>
          </a:p>
        </p:txBody>
      </p:sp>
      <p:sp>
        <p:nvSpPr>
          <p:cNvPr id="9" name="sequence-rule-2">
            <a:extLst xmlns:a="http://schemas.openxmlformats.org/drawingml/2006/main">
              <a:ext uri="{FF2B5EF4-FFF2-40B4-BE49-F238E27FC236}">
                <a16:creationId xmlns:a16="http://schemas.microsoft.com/office/drawing/2014/main" id="{4D5E21F0-F9D8-42AE-93D7-90CEE425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0" name="sequence-number-box-2">
            <a:extLst xmlns:a="http://schemas.openxmlformats.org/drawingml/2006/main">
              <a:ext uri="{FF2B5EF4-FFF2-40B4-BE49-F238E27FC236}">
                <a16:creationId xmlns:a16="http://schemas.microsoft.com/office/drawing/2014/main" id="{3DE9144C-6946-4279-B9C0-541FB42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11" name="sequence-number-2">
            <a:extLst xmlns:a="http://schemas.openxmlformats.org/drawingml/2006/main">
              <a:ext uri="{FF2B5EF4-FFF2-40B4-BE49-F238E27FC236}">
                <a16:creationId xmlns:a16="http://schemas.microsoft.com/office/drawing/2014/main" id="{4A0F5A77-8353-46A2-94B8-2C1A47C9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sequence-heading-2">
            <a:extLst xmlns:a="http://schemas.openxmlformats.org/drawingml/2006/main">
              <a:ext uri="{FF2B5EF4-FFF2-40B4-BE49-F238E27FC236}">
                <a16:creationId xmlns:a16="http://schemas.microsoft.com/office/drawing/2014/main" id="{CFF37DA0-7BD7-469D-A189-57F1FB58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289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Capacity</a:t>
            </a:r>
          </a:p>
        </p:txBody>
      </p:sp>
      <p:sp>
        <p:nvSpPr>
          <p:cNvPr id="13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8A290D27-421A-42AD-B6EA-C914F2C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People imagined before developed political society may lack the concepts and coordination needed for a legal agreement.</a:t>
            </a:r>
          </a:p>
        </p:txBody>
      </p:sp>
      <p:sp>
        <p:nvSpPr>
          <p:cNvPr id="14" name="sequence-rule-3">
            <a:extLst xmlns:a="http://schemas.openxmlformats.org/drawingml/2006/main">
              <a:ext uri="{FF2B5EF4-FFF2-40B4-BE49-F238E27FC236}">
                <a16:creationId xmlns:a16="http://schemas.microsoft.com/office/drawing/2014/main" id="{1F1D5F43-ED85-46B2-B897-76DE571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5" name="sequence-number-box-3">
            <a:extLst xmlns:a="http://schemas.openxmlformats.org/drawingml/2006/main">
              <a:ext uri="{FF2B5EF4-FFF2-40B4-BE49-F238E27FC236}">
                <a16:creationId xmlns:a16="http://schemas.microsoft.com/office/drawing/2014/main" id="{27CE7AFD-8FE1-4BBA-84A2-9438650E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16" name="sequence-number-3">
            <a:extLst xmlns:a="http://schemas.openxmlformats.org/drawingml/2006/main">
              <a:ext uri="{FF2B5EF4-FFF2-40B4-BE49-F238E27FC236}">
                <a16:creationId xmlns:a16="http://schemas.microsoft.com/office/drawing/2014/main" id="{EBC26584-E307-4BBF-9B34-D0D292C7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sequence-heading-3">
            <a:extLst xmlns:a="http://schemas.openxmlformats.org/drawingml/2006/main">
              <a:ext uri="{FF2B5EF4-FFF2-40B4-BE49-F238E27FC236}">
                <a16:creationId xmlns:a16="http://schemas.microsoft.com/office/drawing/2014/main" id="{962947BF-9D00-4355-9996-8ACFC01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95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Descendants</a:t>
            </a:r>
          </a:p>
        </p:txBody>
      </p:sp>
      <p:sp>
        <p:nvSpPr>
          <p:cNvPr id="18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F017C879-F4C7-40D5-9870-2AF297A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005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Even a real contract made by ancestors could not reasonably impose obligations on later generations.</a:t>
            </a:r>
          </a:p>
        </p:txBody>
      </p:sp>
      <p:sp>
        <p:nvSpPr>
          <p:cNvPr id="1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6C150F11-6AEF-46BA-973E-3AC18AF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20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1F13281-1C80-4E84-BECC-CE7AB5A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A voluntarist account needs the consent of people who are governed now.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E1B136-F067-4D48-8A44-7CA9603C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5248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791F79B-5895-4CA8-8338-8E9A9F9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EXPRESS CONSENT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EDE24E-40A4-443A-A4E4-3E0C7A3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Almost no one explicitly agrees to be governed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88A0E1-38CB-46E4-84FA-952ABE8E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row-rule-1">
            <a:extLst xmlns:a="http://schemas.openxmlformats.org/drawingml/2006/main">
              <a:ext uri="{FF2B5EF4-FFF2-40B4-BE49-F238E27FC236}">
                <a16:creationId xmlns:a16="http://schemas.microsoft.com/office/drawing/2014/main" id="{8269BEC7-71D9-4722-A6B6-1E48EA5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5" name="row-number-1">
            <a:extLst xmlns:a="http://schemas.openxmlformats.org/drawingml/2006/main">
              <a:ext uri="{FF2B5EF4-FFF2-40B4-BE49-F238E27FC236}">
                <a16:creationId xmlns:a16="http://schemas.microsoft.com/office/drawing/2014/main" id="{CAC255C5-7BA7-4EC5-9C36-4F657C4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row-heading-1">
            <a:extLst xmlns:a="http://schemas.openxmlformats.org/drawingml/2006/main">
              <a:ext uri="{FF2B5EF4-FFF2-40B4-BE49-F238E27FC236}">
                <a16:creationId xmlns:a16="http://schemas.microsoft.com/office/drawing/2014/main" id="{A338188F-96AD-41A2-B7DE-9D6EFAD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Naturalization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84FA94F0-0BD4-4F03-9E01-F3B0DBD3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New citizens may formally consent, but they form a small portion of the population.</a:t>
            </a:r>
          </a:p>
        </p:txBody>
      </p:sp>
      <p:sp>
        <p:nvSpPr>
          <p:cNvPr id="8" name="row-rule-2">
            <a:extLst xmlns:a="http://schemas.openxmlformats.org/drawingml/2006/main">
              <a:ext uri="{FF2B5EF4-FFF2-40B4-BE49-F238E27FC236}">
                <a16:creationId xmlns:a16="http://schemas.microsoft.com/office/drawing/2014/main" id="{0B7CFE36-139A-492F-A988-7C2DE6F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row-number-2">
            <a:extLst xmlns:a="http://schemas.openxmlformats.org/drawingml/2006/main">
              <a:ext uri="{FF2B5EF4-FFF2-40B4-BE49-F238E27FC236}">
                <a16:creationId xmlns:a16="http://schemas.microsoft.com/office/drawing/2014/main" id="{2E6582AF-39A1-493C-8602-C3490E2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row-heading-2">
            <a:extLst xmlns:a="http://schemas.openxmlformats.org/drawingml/2006/main">
              <a:ext uri="{FF2B5EF4-FFF2-40B4-BE49-F238E27FC236}">
                <a16:creationId xmlns:a16="http://schemas.microsoft.com/office/drawing/2014/main" id="{F7EDE4AF-3E5B-409E-92F9-5DE3857E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Pledges</a:t>
            </a:r>
          </a:p>
        </p:txBody>
      </p:sp>
      <p:sp>
        <p:nvSpPr>
          <p:cNvPr id="11" name="row-body-2">
            <a:extLst xmlns:a="http://schemas.openxmlformats.org/drawingml/2006/main">
              <a:ext uri="{FF2B5EF4-FFF2-40B4-BE49-F238E27FC236}">
                <a16:creationId xmlns:a16="http://schemas.microsoft.com/office/drawing/2014/main" id="{0F337CBE-03EF-416C-A05A-7C35195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2895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Schoolchildren and scouts often lack meaningful choice and legal capacity.</a:t>
            </a:r>
          </a:p>
        </p:txBody>
      </p:sp>
      <p:sp>
        <p:nvSpPr>
          <p:cNvPr id="12" name="row-rule-3">
            <a:extLst xmlns:a="http://schemas.openxmlformats.org/drawingml/2006/main">
              <a:ext uri="{FF2B5EF4-FFF2-40B4-BE49-F238E27FC236}">
                <a16:creationId xmlns:a16="http://schemas.microsoft.com/office/drawing/2014/main" id="{FC937094-5CDA-4521-B719-3E6961AE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3" name="row-number-3">
            <a:extLst xmlns:a="http://schemas.openxmlformats.org/drawingml/2006/main">
              <a:ext uri="{FF2B5EF4-FFF2-40B4-BE49-F238E27FC236}">
                <a16:creationId xmlns:a16="http://schemas.microsoft.com/office/drawing/2014/main" id="{F53648F4-4308-48B1-8D31-B4E940FD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row-heading-3">
            <a:extLst xmlns:a="http://schemas.openxmlformats.org/drawingml/2006/main">
              <a:ext uri="{FF2B5EF4-FFF2-40B4-BE49-F238E27FC236}">
                <a16:creationId xmlns:a16="http://schemas.microsoft.com/office/drawing/2014/main" id="{FAA54DE2-405D-473A-8D5A-CE61DAC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Voting</a:t>
            </a:r>
          </a:p>
        </p:txBody>
      </p:sp>
      <p:sp>
        <p:nvSpPr>
          <p:cNvPr id="15" name="row-body-3">
            <a:extLst xmlns:a="http://schemas.openxmlformats.org/drawingml/2006/main">
              <a:ext uri="{FF2B5EF4-FFF2-40B4-BE49-F238E27FC236}">
                <a16:creationId xmlns:a16="http://schemas.microsoft.com/office/drawing/2014/main" id="{E98BEC9B-A726-4805-A644-1F473F0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2430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vote may support the system, oppose the government, or express dissent. Its meaning is not fixed.</a:t>
            </a:r>
          </a:p>
        </p:txBody>
      </p:sp>
      <p:sp>
        <p:nvSpPr>
          <p:cNvPr id="16" name="row-rule-4">
            <a:extLst xmlns:a="http://schemas.openxmlformats.org/drawingml/2006/main">
              <a:ext uri="{FF2B5EF4-FFF2-40B4-BE49-F238E27FC236}">
                <a16:creationId xmlns:a16="http://schemas.microsoft.com/office/drawing/2014/main" id="{A80D0D38-E9A2-43AB-BFE5-388C620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7" name="row-number-4">
            <a:extLst xmlns:a="http://schemas.openxmlformats.org/drawingml/2006/main">
              <a:ext uri="{FF2B5EF4-FFF2-40B4-BE49-F238E27FC236}">
                <a16:creationId xmlns:a16="http://schemas.microsoft.com/office/drawing/2014/main" id="{8D8DD56B-46A1-4C45-B58D-30F9D4E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8" name="row-heading-4">
            <a:extLst xmlns:a="http://schemas.openxmlformats.org/drawingml/2006/main">
              <a:ext uri="{FF2B5EF4-FFF2-40B4-BE49-F238E27FC236}">
                <a16:creationId xmlns:a16="http://schemas.microsoft.com/office/drawing/2014/main" id="{0CA2B8D4-CE6E-47CD-A426-262575CF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2917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Abstention</a:t>
            </a:r>
          </a:p>
        </p:txBody>
      </p:sp>
      <p:sp>
        <p:nvSpPr>
          <p:cNvPr id="19" name="row-body-4">
            <a:extLst xmlns:a="http://schemas.openxmlformats.org/drawingml/2006/main">
              <a:ext uri="{FF2B5EF4-FFF2-40B4-BE49-F238E27FC236}">
                <a16:creationId xmlns:a16="http://schemas.microsoft.com/office/drawing/2014/main" id="{60AAAAA4-E59B-42DC-B7CD-E2D0C216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19650"/>
            <a:ext cx="747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Refusing to vote cannot plausibly count as consent. Compulsory voting also removes voluntariness.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2FD433-7683-4565-AFEE-252F9E5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7191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7263793-3877-4AB5-9D96-98332E2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TACIT CONSENT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72C124-83EE-4589-AF3A-DFC7AC0F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Residence is treated as a quiet agreement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9436F2-7BF9-4062-BA07-2311DC92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tatement">
            <a:extLst xmlns:a="http://schemas.openxmlformats.org/drawingml/2006/main">
              <a:ext uri="{FF2B5EF4-FFF2-40B4-BE49-F238E27FC236}">
                <a16:creationId xmlns:a16="http://schemas.microsoft.com/office/drawing/2014/main" id="{C7649739-D3A5-4F59-B3D4-CE4D81ED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By accepting protection, using public roads, or holding property, a resident appears to accept the state’s package of benefits and burdens.</a:t>
            </a:r>
          </a:p>
        </p:txBody>
      </p:sp>
      <p:sp>
        <p:nvSpPr>
          <p:cNvPr id="5" name="side-accent">
            <a:extLst xmlns:a="http://schemas.openxmlformats.org/drawingml/2006/main">
              <a:ext uri="{FF2B5EF4-FFF2-40B4-BE49-F238E27FC236}">
                <a16:creationId xmlns:a16="http://schemas.microsoft.com/office/drawing/2014/main" id="{86A754B2-5C09-4220-9B86-65EA5D1E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75"/>
          </a:solidFill>
          <a:ln xmlns:a="http://schemas.openxmlformats.org/drawingml/2006/main" w="0">
            <a:noFill/>
          </a:ln>
        </p:spPr>
      </p:sp>
      <p:sp>
        <p:nvSpPr>
          <p:cNvPr id="6" name="side-label">
            <a:extLst xmlns:a="http://schemas.openxmlformats.org/drawingml/2006/main">
              <a:ext uri="{FF2B5EF4-FFF2-40B4-BE49-F238E27FC236}">
                <a16:creationId xmlns:a16="http://schemas.microsoft.com/office/drawing/2014/main" id="{8FC503FC-FF7A-4178-B9D5-73F396E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THE HIDDEN CONDITION</a:t>
            </a:r>
          </a:p>
        </p:txBody>
      </p:sp>
      <p:sp>
        <p:nvSpPr>
          <p:cNvPr id="7" name="side-text">
            <a:extLst xmlns:a="http://schemas.openxmlformats.org/drawingml/2006/main">
              <a:ext uri="{FF2B5EF4-FFF2-40B4-BE49-F238E27FC236}">
                <a16:creationId xmlns:a16="http://schemas.microsoft.com/office/drawing/2014/main" id="{12B23266-9B30-494D-B2B3-EDF0A4F8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Staying can signal agreement only when leaving is a genuine and reasonable option.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63EB44-F4B6-4CD8-9EF4-82E7BFCA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304728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587694a704f35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0B709F4-67DB-4FDB-80D8-DE2AF73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HUME’S OBJECTION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B346F8-4FCD-4593-A681-51F089D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76300"/>
            <a:ext cx="4762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An impossible exit cannot make staying voluntary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CC7884-3335-469A-B941-FC9DF9E3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384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5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2061F5-EC87-436E-AB21-0795A0C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4619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Hume compares the resident to a person carried aboard a vessel while asleep. Remaining under the captain cannot show free consent when departure means leaping into the ocean.</a:t>
            </a:r>
          </a:p>
        </p:txBody>
      </p:sp>
      <p:sp>
        <p:nvSpPr>
          <p:cNvPr id="6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481F9E7-E096-4E6A-98A7-9FD616E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619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Language, poverty, family, migration barriers, and the lack of a welcoming destination can make political exit equally unrealistic.</a:t>
            </a:r>
          </a:p>
        </p:txBody>
      </p:sp>
      <p:sp>
        <p:nvSpPr>
          <p:cNvPr id="7" name="bottom-rule">
            <a:extLst xmlns:a="http://schemas.openxmlformats.org/drawingml/2006/main">
              <a:ext uri="{FF2B5EF4-FFF2-40B4-BE49-F238E27FC236}">
                <a16:creationId xmlns:a16="http://schemas.microsoft.com/office/drawing/2014/main" id="{FF67EA41-FC34-4185-958F-7038F3C2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768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53D1741-EF31-49A4-931A-A4A1CEB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5782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Residence alone cannot establish consent when dissent carries an intolerable cost.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B27D0F-44BD-4B0B-8CB1-6062AB4A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75449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482C0FFF-0BB6-4408-AB88-1E5CE83C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HYPOTHETICAL CONSENT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108B0E-C4DB-4BB3-A45A-F8DD657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The contract becomes a thought experiment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697487-54DE-4313-BFF9-7BCB97BC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14F56932-2F67-4F05-B8A9-326584B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Imagine the state’s absence. If rational people would freely recreate political authority, perhaps that imagined choice can justify the state.</a:t>
            </a:r>
          </a:p>
        </p:txBody>
      </p:sp>
      <p:sp>
        <p:nvSpPr>
          <p:cNvPr id="5" name="row-rule-1">
            <a:extLst xmlns:a="http://schemas.openxmlformats.org/drawingml/2006/main">
              <a:ext uri="{FF2B5EF4-FFF2-40B4-BE49-F238E27FC236}">
                <a16:creationId xmlns:a16="http://schemas.microsoft.com/office/drawing/2014/main" id="{2C03B1B1-DBA8-4DDB-9056-FDEF230A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6" name="row-number-1">
            <a:extLst xmlns:a="http://schemas.openxmlformats.org/drawingml/2006/main">
              <a:ext uri="{FF2B5EF4-FFF2-40B4-BE49-F238E27FC236}">
                <a16:creationId xmlns:a16="http://schemas.microsoft.com/office/drawing/2014/main" id="{B0C27B25-35BE-49AF-B316-FA1CD262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row-heading-1">
            <a:extLst xmlns:a="http://schemas.openxmlformats.org/drawingml/2006/main">
              <a:ext uri="{FF2B5EF4-FFF2-40B4-BE49-F238E27FC236}">
                <a16:creationId xmlns:a16="http://schemas.microsoft.com/office/drawing/2014/main" id="{2079CFE6-D209-4AE3-8B98-7A1E2423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622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Method</a:t>
            </a:r>
          </a:p>
        </p:txBody>
      </p:sp>
      <p:sp>
        <p:nvSpPr>
          <p:cNvPr id="8" name="row-body-1">
            <a:extLst xmlns:a="http://schemas.openxmlformats.org/drawingml/2006/main">
              <a:ext uri="{FF2B5EF4-FFF2-40B4-BE49-F238E27FC236}">
                <a16:creationId xmlns:a16="http://schemas.microsoft.com/office/drawing/2014/main" id="{57E8192C-48C9-4FBD-A839-28A97629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52750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Place rational agents in the state of nature and ask what form of order they would choose.</a:t>
            </a:r>
          </a:p>
        </p:txBody>
      </p:sp>
      <p:sp>
        <p:nvSpPr>
          <p:cNvPr id="9" name="row-rule-2">
            <a:extLst xmlns:a="http://schemas.openxmlformats.org/drawingml/2006/main">
              <a:ext uri="{FF2B5EF4-FFF2-40B4-BE49-F238E27FC236}">
                <a16:creationId xmlns:a16="http://schemas.microsoft.com/office/drawing/2014/main" id="{7C0AA84D-1092-4672-8D9E-15E20412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0" name="row-number-2">
            <a:extLst xmlns:a="http://schemas.openxmlformats.org/drawingml/2006/main">
              <a:ext uri="{FF2B5EF4-FFF2-40B4-BE49-F238E27FC236}">
                <a16:creationId xmlns:a16="http://schemas.microsoft.com/office/drawing/2014/main" id="{A5FDD2EB-6494-4387-B85A-FCB4B30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row-heading-2">
            <a:extLst xmlns:a="http://schemas.openxmlformats.org/drawingml/2006/main">
              <a:ext uri="{FF2B5EF4-FFF2-40B4-BE49-F238E27FC236}">
                <a16:creationId xmlns:a16="http://schemas.microsoft.com/office/drawing/2014/main" id="{A94A437F-8268-4822-B5D9-6116A932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385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Attraction</a:t>
            </a:r>
          </a:p>
        </p:txBody>
      </p:sp>
      <p:sp>
        <p:nvSpPr>
          <p:cNvPr id="12" name="row-body-2">
            <a:extLst xmlns:a="http://schemas.openxmlformats.org/drawingml/2006/main">
              <a:ext uri="{FF2B5EF4-FFF2-40B4-BE49-F238E27FC236}">
                <a16:creationId xmlns:a16="http://schemas.microsoft.com/office/drawing/2014/main" id="{FE26BFD9-AD72-4DFD-ABAA-7F53DD8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29050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state that secures peace and protection may be the obvious rational choice.</a:t>
            </a:r>
          </a:p>
        </p:txBody>
      </p:sp>
      <p:sp>
        <p:nvSpPr>
          <p:cNvPr id="13" name="row-rule-3">
            <a:extLst xmlns:a="http://schemas.openxmlformats.org/drawingml/2006/main">
              <a:ext uri="{FF2B5EF4-FFF2-40B4-BE49-F238E27FC236}">
                <a16:creationId xmlns:a16="http://schemas.microsoft.com/office/drawing/2014/main" id="{936289DE-0151-4187-974D-A3A7A51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row-number-3">
            <a:extLst xmlns:a="http://schemas.openxmlformats.org/drawingml/2006/main">
              <a:ext uri="{FF2B5EF4-FFF2-40B4-BE49-F238E27FC236}">
                <a16:creationId xmlns:a16="http://schemas.microsoft.com/office/drawing/2014/main" id="{2F4F2FBD-4F8D-434A-925C-A988ABD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row-heading-3">
            <a:extLst xmlns:a="http://schemas.openxmlformats.org/drawingml/2006/main">
              <a:ext uri="{FF2B5EF4-FFF2-40B4-BE49-F238E27FC236}">
                <a16:creationId xmlns:a16="http://schemas.microsoft.com/office/drawing/2014/main" id="{930A4789-5090-4BE3-B845-281D2C9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16" name="row-body-3">
            <a:extLst xmlns:a="http://schemas.openxmlformats.org/drawingml/2006/main">
              <a:ext uri="{FF2B5EF4-FFF2-40B4-BE49-F238E27FC236}">
                <a16:creationId xmlns:a16="http://schemas.microsoft.com/office/drawing/2014/main" id="{6EA56741-3691-4D95-8F54-0CF9161A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7477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choice someone would make is different from a voluntary act they have made.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57AD86-1EAF-4EB9-974D-3B58D2AB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31395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DE68AE4-8BBD-42F7-A211-C32767F4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WHAT THE THOUGHT EXPERIMENT SHOWS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B0D10D-74FA-4B6C-9A22-A64B802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Worthiness and authorization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2982FB-173A-4D1B-B375-5CDAF5C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5444E31A-52F8-41E6-873C-BB3FCF2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341296C8-3ADF-485B-BF23-810ACAB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WORTHY OF CONSENT</a:t>
            </a:r>
          </a:p>
        </p:txBody>
      </p:sp>
      <p:sp>
        <p:nvSpPr>
          <p:cNvPr id="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B3445E82-456E-45B3-B5A8-7F969A3B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The state has desirable features</a:t>
            </a:r>
          </a:p>
        </p:txBody>
      </p:sp>
      <p:sp>
        <p:nvSpPr>
          <p:cNvPr id="7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94DC62A4-E5BD-41B4-A537-0B491D08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Peace, security, and reliable rules make a state preferable to the state of nature.</a:t>
            </a:r>
          </a:p>
        </p:txBody>
      </p:sp>
      <p:sp>
        <p:nvSpPr>
          <p:cNvPr id="8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C01A6D4A-A9B8-4C6E-9D2E-3594C4D3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column-result-1">
            <a:extLst xmlns:a="http://schemas.openxmlformats.org/drawingml/2006/main">
              <a:ext uri="{FF2B5EF4-FFF2-40B4-BE49-F238E27FC236}">
                <a16:creationId xmlns:a16="http://schemas.microsoft.com/office/drawing/2014/main" id="{9D195BEE-2F6F-4C7C-8A2D-A5437D9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The features of the state supply the reason for justification.</a:t>
            </a:r>
          </a:p>
        </p:txBody>
      </p:sp>
      <p:sp>
        <p:nvSpPr>
          <p:cNvPr id="10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6E8AE6D0-C7EB-46CB-A01C-563089A2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ACTUALLY AUTHORIZED</a:t>
            </a:r>
          </a:p>
        </p:txBody>
      </p:sp>
      <p:sp>
        <p:nvSpPr>
          <p:cNvPr id="11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CE2E5C18-C3BB-41C7-AFC5-63396711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Each person has voluntarily agreed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5200C401-730C-496F-BD3D-8231E7FD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Voluntarism requires an act that gives political authority to another person or institution.</a:t>
            </a:r>
          </a:p>
        </p:txBody>
      </p:sp>
      <p:sp>
        <p:nvSpPr>
          <p:cNvPr id="13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689D5630-6B3F-4BD5-A96F-009CC95A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column-result-2">
            <a:extLst xmlns:a="http://schemas.openxmlformats.org/drawingml/2006/main">
              <a:ext uri="{FF2B5EF4-FFF2-40B4-BE49-F238E27FC236}">
                <a16:creationId xmlns:a16="http://schemas.microsoft.com/office/drawing/2014/main" id="{F20996F8-74C2-4EF8-A7EA-BD2A0154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An imagined choice cannot perform that act.</a:t>
            </a:r>
          </a:p>
        </p:txBody>
      </p:sp>
      <p:sp>
        <p:nvSpPr>
          <p:cNvPr id="15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EE3C554-6BD3-439E-94CD-CEB4308B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6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42CD20D-D060-4FEF-8AC2-51E6D0DC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When desirable features do the work, consent drops out. The argument begins to resemble a defense based on well-being.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87D9C6-BDF4-4A29-9521-D6899FC9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709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977D07C-47BF-4923-8456-48329C6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A FINAL RESCUE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C7736C-8D44-4A86-9B44-BEAF05FD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Dispositional consent remains too weak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2506E2-2407-4A2D-BBF9-378F9EA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equence-rule-1">
            <a:extLst xmlns:a="http://schemas.openxmlformats.org/drawingml/2006/main">
              <a:ext uri="{FF2B5EF4-FFF2-40B4-BE49-F238E27FC236}">
                <a16:creationId xmlns:a16="http://schemas.microsoft.com/office/drawing/2014/main" id="{D664F143-35CC-45F8-A187-DA7BCAC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5" name="sequence-number-box-1">
            <a:extLst xmlns:a="http://schemas.openxmlformats.org/drawingml/2006/main">
              <a:ext uri="{FF2B5EF4-FFF2-40B4-BE49-F238E27FC236}">
                <a16:creationId xmlns:a16="http://schemas.microsoft.com/office/drawing/2014/main" id="{78C34414-FC46-4D5F-B236-F6B36AE4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6" name="sequence-number-1">
            <a:extLst xmlns:a="http://schemas.openxmlformats.org/drawingml/2006/main">
              <a:ext uri="{FF2B5EF4-FFF2-40B4-BE49-F238E27FC236}">
                <a16:creationId xmlns:a16="http://schemas.microsoft.com/office/drawing/2014/main" id="{7A4C2D04-A253-4BD0-98E4-1DF3825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sequence-heading-1">
            <a:extLst xmlns:a="http://schemas.openxmlformats.org/drawingml/2006/main">
              <a:ext uri="{FF2B5EF4-FFF2-40B4-BE49-F238E27FC236}">
                <a16:creationId xmlns:a16="http://schemas.microsoft.com/office/drawing/2014/main" id="{F5AD9036-CB00-4A57-A04A-EA0400F0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Proposal</a:t>
            </a:r>
          </a:p>
        </p:txBody>
      </p:sp>
      <p:sp>
        <p:nvSpPr>
          <p:cNvPr id="8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CC2FC650-6731-49A3-AA35-BD8C5DE3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193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Serious reflection would lead most people to consent, so the thought experiment reveals an attitude they already possess.</a:t>
            </a:r>
          </a:p>
        </p:txBody>
      </p:sp>
      <p:sp>
        <p:nvSpPr>
          <p:cNvPr id="9" name="sequence-rule-2">
            <a:extLst xmlns:a="http://schemas.openxmlformats.org/drawingml/2006/main">
              <a:ext uri="{FF2B5EF4-FFF2-40B4-BE49-F238E27FC236}">
                <a16:creationId xmlns:a16="http://schemas.microsoft.com/office/drawing/2014/main" id="{A2DAF316-95AA-4CF4-AD12-4F9EB8B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0" name="sequence-number-box-2">
            <a:extLst xmlns:a="http://schemas.openxmlformats.org/drawingml/2006/main">
              <a:ext uri="{FF2B5EF4-FFF2-40B4-BE49-F238E27FC236}">
                <a16:creationId xmlns:a16="http://schemas.microsoft.com/office/drawing/2014/main" id="{73FACEAD-450D-4BAD-B127-E8950341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11" name="sequence-number-2">
            <a:extLst xmlns:a="http://schemas.openxmlformats.org/drawingml/2006/main">
              <a:ext uri="{FF2B5EF4-FFF2-40B4-BE49-F238E27FC236}">
                <a16:creationId xmlns:a16="http://schemas.microsoft.com/office/drawing/2014/main" id="{E18C2269-6411-4368-A0EB-A33E924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sequence-heading-2">
            <a:extLst xmlns:a="http://schemas.openxmlformats.org/drawingml/2006/main">
              <a:ext uri="{FF2B5EF4-FFF2-40B4-BE49-F238E27FC236}">
                <a16:creationId xmlns:a16="http://schemas.microsoft.com/office/drawing/2014/main" id="{D5398FED-0D31-4F74-BE47-C87AFE4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289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Weakness</a:t>
            </a:r>
          </a:p>
        </p:txBody>
      </p:sp>
      <p:sp>
        <p:nvSpPr>
          <p:cNvPr id="13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1F409D34-4D38-42DC-9387-5D88908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Unexpressed and unacknowledged dispositions rarely create binding legal or moral obligations.</a:t>
            </a:r>
          </a:p>
        </p:txBody>
      </p:sp>
      <p:sp>
        <p:nvSpPr>
          <p:cNvPr id="14" name="sequence-rule-3">
            <a:extLst xmlns:a="http://schemas.openxmlformats.org/drawingml/2006/main">
              <a:ext uri="{FF2B5EF4-FFF2-40B4-BE49-F238E27FC236}">
                <a16:creationId xmlns:a16="http://schemas.microsoft.com/office/drawing/2014/main" id="{483BFE5A-6F67-47F1-B224-E0EE83F4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5" name="sequence-number-box-3">
            <a:extLst xmlns:a="http://schemas.openxmlformats.org/drawingml/2006/main">
              <a:ext uri="{FF2B5EF4-FFF2-40B4-BE49-F238E27FC236}">
                <a16:creationId xmlns:a16="http://schemas.microsoft.com/office/drawing/2014/main" id="{7F726D9F-CC32-4BBF-8225-D44749DA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16" name="sequence-number-3">
            <a:extLst xmlns:a="http://schemas.openxmlformats.org/drawingml/2006/main">
              <a:ext uri="{FF2B5EF4-FFF2-40B4-BE49-F238E27FC236}">
                <a16:creationId xmlns:a16="http://schemas.microsoft.com/office/drawing/2014/main" id="{22589694-609C-4237-85DD-6A4E08A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sequence-heading-3">
            <a:extLst xmlns:a="http://schemas.openxmlformats.org/drawingml/2006/main">
              <a:ext uri="{FF2B5EF4-FFF2-40B4-BE49-F238E27FC236}">
                <a16:creationId xmlns:a16="http://schemas.microsoft.com/office/drawing/2014/main" id="{836C84FF-F1AC-4DDA-A412-16C3FCF3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95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Dissent</a:t>
            </a:r>
          </a:p>
        </p:txBody>
      </p:sp>
      <p:sp>
        <p:nvSpPr>
          <p:cNvPr id="18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11A6321C-2BBF-47E6-BD86-BDB496E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005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Some anarchists reflect on the state and still reject centralized political authority.</a:t>
            </a:r>
          </a:p>
        </p:txBody>
      </p:sp>
      <p:sp>
        <p:nvSpPr>
          <p:cNvPr id="1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4602A2E-1421-4CE1-B800-2DDFBBF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20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86533CA-1146-4205-8D16-CBEE9DF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Calling dissenters irrational would not show that they consented.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ECE326-BFD3-4672-952C-3BE1892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9861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1D5F439-D5A0-4C00-BE04-5A85CD67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CONSENT VERDICT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8E9786-BC75-4B97-B6D1-A88B72C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Consent cannot ground universal obligation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58A260-F027-48D2-82CB-3B3CD5CA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equence-rule-1">
            <a:extLst xmlns:a="http://schemas.openxmlformats.org/drawingml/2006/main">
              <a:ext uri="{FF2B5EF4-FFF2-40B4-BE49-F238E27FC236}">
                <a16:creationId xmlns:a16="http://schemas.microsoft.com/office/drawing/2014/main" id="{C0BCB7FB-AB16-4B69-991C-2907AD0B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5" name="sequence-number-box-1">
            <a:extLst xmlns:a="http://schemas.openxmlformats.org/drawingml/2006/main">
              <a:ext uri="{FF2B5EF4-FFF2-40B4-BE49-F238E27FC236}">
                <a16:creationId xmlns:a16="http://schemas.microsoft.com/office/drawing/2014/main" id="{0C84A848-10D2-4C8D-A8EA-655322C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6" name="sequence-number-1">
            <a:extLst xmlns:a="http://schemas.openxmlformats.org/drawingml/2006/main">
              <a:ext uri="{FF2B5EF4-FFF2-40B4-BE49-F238E27FC236}">
                <a16:creationId xmlns:a16="http://schemas.microsoft.com/office/drawing/2014/main" id="{43AFAE8F-344C-43C5-A6AC-7F33B2CE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sequence-heading-1">
            <a:extLst xmlns:a="http://schemas.openxmlformats.org/drawingml/2006/main">
              <a:ext uri="{FF2B5EF4-FFF2-40B4-BE49-F238E27FC236}">
                <a16:creationId xmlns:a16="http://schemas.microsoft.com/office/drawing/2014/main" id="{137D55E2-4FDD-42AD-B04A-A2386A9A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Voluntary authority</a:t>
            </a:r>
          </a:p>
        </p:txBody>
      </p:sp>
      <p:sp>
        <p:nvSpPr>
          <p:cNvPr id="8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37429B4D-8B60-4B59-BE36-99952B7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193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Contract theory allows political power to arise only through consent.</a:t>
            </a:r>
          </a:p>
        </p:txBody>
      </p:sp>
      <p:sp>
        <p:nvSpPr>
          <p:cNvPr id="9" name="sequence-rule-2">
            <a:extLst xmlns:a="http://schemas.openxmlformats.org/drawingml/2006/main">
              <a:ext uri="{FF2B5EF4-FFF2-40B4-BE49-F238E27FC236}">
                <a16:creationId xmlns:a16="http://schemas.microsoft.com/office/drawing/2014/main" id="{83824A64-2B28-42EF-A93F-ECA6BC1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0" name="sequence-number-box-2">
            <a:extLst xmlns:a="http://schemas.openxmlformats.org/drawingml/2006/main">
              <a:ext uri="{FF2B5EF4-FFF2-40B4-BE49-F238E27FC236}">
                <a16:creationId xmlns:a16="http://schemas.microsoft.com/office/drawing/2014/main" id="{CD5BBCB8-C0C9-4E2B-8678-FC2D9BBB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11" name="sequence-number-2">
            <a:extLst xmlns:a="http://schemas.openxmlformats.org/drawingml/2006/main">
              <a:ext uri="{FF2B5EF4-FFF2-40B4-BE49-F238E27FC236}">
                <a16:creationId xmlns:a16="http://schemas.microsoft.com/office/drawing/2014/main" id="{B6518538-AABE-4801-B0B7-D9CA9145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sequence-heading-2">
            <a:extLst xmlns:a="http://schemas.openxmlformats.org/drawingml/2006/main">
              <a:ext uri="{FF2B5EF4-FFF2-40B4-BE49-F238E27FC236}">
                <a16:creationId xmlns:a16="http://schemas.microsoft.com/office/drawing/2014/main" id="{6C1028F5-3A48-4AE3-8D98-2C91D23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Persistent dissent</a:t>
            </a:r>
          </a:p>
        </p:txBody>
      </p:sp>
      <p:sp>
        <p:nvSpPr>
          <p:cNvPr id="13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10567DA5-6264-4EF1-8B83-11E413F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At least some adults do not consent in any historical, express, tacit, or dispositional sense.</a:t>
            </a:r>
          </a:p>
        </p:txBody>
      </p:sp>
      <p:sp>
        <p:nvSpPr>
          <p:cNvPr id="14" name="sequence-rule-3">
            <a:extLst xmlns:a="http://schemas.openxmlformats.org/drawingml/2006/main">
              <a:ext uri="{FF2B5EF4-FFF2-40B4-BE49-F238E27FC236}">
                <a16:creationId xmlns:a16="http://schemas.microsoft.com/office/drawing/2014/main" id="{2E1B0ADF-9112-49EB-8ADC-64D56B23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5" name="sequence-number-box-3">
            <a:extLst xmlns:a="http://schemas.openxmlformats.org/drawingml/2006/main">
              <a:ext uri="{FF2B5EF4-FFF2-40B4-BE49-F238E27FC236}">
                <a16:creationId xmlns:a16="http://schemas.microsoft.com/office/drawing/2014/main" id="{94170991-48B7-4154-A79B-0B0940E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16" name="sequence-number-3">
            <a:extLst xmlns:a="http://schemas.openxmlformats.org/drawingml/2006/main">
              <a:ext uri="{FF2B5EF4-FFF2-40B4-BE49-F238E27FC236}">
                <a16:creationId xmlns:a16="http://schemas.microsoft.com/office/drawing/2014/main" id="{8C684DB7-A955-4168-B3D9-9892EF8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sequence-heading-3">
            <a:extLst xmlns:a="http://schemas.openxmlformats.org/drawingml/2006/main">
              <a:ext uri="{FF2B5EF4-FFF2-40B4-BE49-F238E27FC236}">
                <a16:creationId xmlns:a16="http://schemas.microsoft.com/office/drawing/2014/main" id="{A51D90BD-AEB3-4353-B900-D3A36CE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Limited reach</a:t>
            </a:r>
          </a:p>
        </p:txBody>
      </p:sp>
      <p:sp>
        <p:nvSpPr>
          <p:cNvPr id="18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C1391052-B129-462B-877B-6B42D280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Those dissenters cannot be assigned political obligations through a consent argument.</a:t>
            </a:r>
          </a:p>
        </p:txBody>
      </p:sp>
      <p:sp>
        <p:nvSpPr>
          <p:cNvPr id="19" name="sequence-rule-4">
            <a:extLst xmlns:a="http://schemas.openxmlformats.org/drawingml/2006/main">
              <a:ext uri="{FF2B5EF4-FFF2-40B4-BE49-F238E27FC236}">
                <a16:creationId xmlns:a16="http://schemas.microsoft.com/office/drawing/2014/main" id="{00AA49D6-6399-4766-A6BD-0A2B13F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20" name="sequence-number-box-4">
            <a:extLst xmlns:a="http://schemas.openxmlformats.org/drawingml/2006/main">
              <a:ext uri="{FF2B5EF4-FFF2-40B4-BE49-F238E27FC236}">
                <a16:creationId xmlns:a16="http://schemas.microsoft.com/office/drawing/2014/main" id="{817DC5B3-65A2-4D49-AA50-14519F6C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21" name="sequence-number-4">
            <a:extLst xmlns:a="http://schemas.openxmlformats.org/drawingml/2006/main">
              <a:ext uri="{FF2B5EF4-FFF2-40B4-BE49-F238E27FC236}">
                <a16:creationId xmlns:a16="http://schemas.microsoft.com/office/drawing/2014/main" id="{D0D0DBDC-FD0B-4156-A487-D2BCB3F3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3ECD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sequence-heading-4">
            <a:extLst xmlns:a="http://schemas.openxmlformats.org/drawingml/2006/main">
              <a:ext uri="{FF2B5EF4-FFF2-40B4-BE49-F238E27FC236}">
                <a16:creationId xmlns:a16="http://schemas.microsoft.com/office/drawing/2014/main" id="{5CE0767F-D2B4-4BC3-8109-1682A59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815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Conclusion</a:t>
            </a:r>
          </a:p>
        </p:txBody>
      </p:sp>
      <p:sp>
        <p:nvSpPr>
          <p:cNvPr id="23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FC824BDF-2CCC-4230-9E15-96EAF0C7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624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Voluntarism cannot deliver the universal authority that the state claims.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92A8025-F12C-4783-870A-84E84E89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278044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661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025DF40-D461-4033-930C-767CC75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90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564"/>
          </a:solidFill>
          <a:ln xmlns:a="http://schemas.openxmlformats.org/drawingml/2006/main" w="0">
            <a:noFill/>
          </a:ln>
        </p:spPr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78DCE1E0-3864-4295-928F-E26F029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90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AF9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D9AF9B"/>
                </a:solidFill>
                <a:latin typeface="Consolas"/>
                <a:ea typeface="Consolas"/>
                <a:cs typeface="Consolas"/>
              </a:rPr>
              <a:t>ANARCHISM REVISITED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43C7AB5-E234-4C69-B31F-942913E4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F3ECDF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F3ECDF"/>
                </a:solidFill>
                <a:latin typeface="Georgia"/>
                <a:ea typeface="Georgia"/>
                <a:cs typeface="Georgia"/>
              </a:rPr>
              <a:t>Failed consent renews the challenge</a:t>
            </a:r>
          </a:p>
        </p:txBody>
      </p:sp>
      <p:sp>
        <p:nvSpPr>
          <p:cNvPr id="4" name="section-lead">
            <a:extLst xmlns:a="http://schemas.openxmlformats.org/drawingml/2006/main">
              <a:ext uri="{FF2B5EF4-FFF2-40B4-BE49-F238E27FC236}">
                <a16:creationId xmlns:a16="http://schemas.microsoft.com/office/drawing/2014/main" id="{294A5784-172F-4F0F-9770-F324F1A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E4D8C7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E4D8C7"/>
                </a:solidFill>
                <a:latin typeface="Arial"/>
                <a:ea typeface="Arial"/>
                <a:cs typeface="Arial"/>
              </a:rPr>
              <a:t>If no acceptable consent argument binds everyone, some people may stand outside the state’s moral authority.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1907D0-3D8E-408A-8813-12ED93B9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645466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2129719-1306-4925-91B3-AE9A5436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TWO KINDS OF REASON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2C345E-E4D6-4F81-9E44-44A2B3E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Law and independent morality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1E2FCD9-1FCD-4E68-82F4-DD95598F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CB11AD01-4B24-42CB-92AC-8B031BD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BC84BC9B-16B8-430C-9A8C-7A9CD97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MORAL REASON</a:t>
            </a:r>
          </a:p>
        </p:txBody>
      </p:sp>
      <p:sp>
        <p:nvSpPr>
          <p:cNvPr id="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DC68FABE-1447-49CD-8C8E-9570C6CA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The act is independently right</a:t>
            </a:r>
          </a:p>
        </p:txBody>
      </p:sp>
      <p:sp>
        <p:nvSpPr>
          <p:cNvPr id="7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316646ED-3D08-4354-8BE9-30E86F97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Refraining from murder, protecting an innocent person, or stopping an immediate threat can be justified without political authority.</a:t>
            </a:r>
          </a:p>
        </p:txBody>
      </p:sp>
      <p:sp>
        <p:nvSpPr>
          <p:cNvPr id="8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9DB73F67-BAEA-478F-81AA-96DC5B8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column-result-1">
            <a:extLst xmlns:a="http://schemas.openxmlformats.org/drawingml/2006/main">
              <a:ext uri="{FF2B5EF4-FFF2-40B4-BE49-F238E27FC236}">
                <a16:creationId xmlns:a16="http://schemas.microsoft.com/office/drawing/2014/main" id="{0B5BCA38-2BEA-4886-8560-15AFAED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Police and citizens may share these reasons.</a:t>
            </a:r>
          </a:p>
        </p:txBody>
      </p:sp>
      <p:sp>
        <p:nvSpPr>
          <p:cNvPr id="10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F16E56B7-F246-4447-B147-CFF70A0E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POLITICAL REASON</a:t>
            </a:r>
          </a:p>
        </p:txBody>
      </p:sp>
      <p:sp>
        <p:nvSpPr>
          <p:cNvPr id="11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52F3D552-F3D3-4A0C-A060-C4420BC6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The law itself creates a duty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B5652537-5EBF-4217-8AAE-C26CDB51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Political obligation would give a person a reason to obey because a legitimate authority enacted the rule.</a:t>
            </a:r>
          </a:p>
        </p:txBody>
      </p:sp>
      <p:sp>
        <p:nvSpPr>
          <p:cNvPr id="13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592AA10D-A909-4565-A2DB-8D6EF0DF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column-result-2">
            <a:extLst xmlns:a="http://schemas.openxmlformats.org/drawingml/2006/main">
              <a:ext uri="{FF2B5EF4-FFF2-40B4-BE49-F238E27FC236}">
                <a16:creationId xmlns:a16="http://schemas.microsoft.com/office/drawing/2014/main" id="{47A94870-8273-47ED-9BCA-AEAA9271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The philosophical anarchist denies that law alone adds this reason.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598155-6468-48C6-97AB-A762818B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22537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30d03dfca4b25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EDF5C25-FC02-44A3-BE7F-F0C4777D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PRACTICAL PRESSURE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020FD4-4D12-4A85-B0D8-CF6E996E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Private judgment recreates the coordination problem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E2C0657-78CC-4F6C-83A2-A50A33DA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5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A8FE40F-4FB9-47E0-A887-0D0EBB9C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286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If citizens obey only the laws that perfectly match their own moral judgment, public questions become governed by competing private codes.</a:t>
            </a:r>
          </a:p>
        </p:txBody>
      </p:sp>
      <p:sp>
        <p:nvSpPr>
          <p:cNvPr id="6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E16994C-F600-44A9-B089-3AA00AF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86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One person rejects redistributive taxation. Another rejects inherited property. Each claims authority to set aside the public rule.</a:t>
            </a:r>
          </a:p>
        </p:txBody>
      </p:sp>
      <p:sp>
        <p:nvSpPr>
          <p:cNvPr id="7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E778C0D-6532-4215-A9B9-01E3FB60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9AAE66C-16E5-4F26-AF2A-1AA2F5B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Locke’s original reason for shared, public law returns.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4AFC02-86AC-4E91-BE5B-832D560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CCEC0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955608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2A85318-9087-4557-8565-05A3C99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THE UNRESOLVED TENSION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ED724B-E2DF-4C39-A49A-3F9338B0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Moral criticism and shared law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404903-6D73-46BA-B6AB-B9E649B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8A9339DD-5ABB-47C6-B1F6-AB5D7AE8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5" name="column-label-1">
            <a:extLst xmlns:a="http://schemas.openxmlformats.org/drawingml/2006/main">
              <a:ext uri="{FF2B5EF4-FFF2-40B4-BE49-F238E27FC236}">
                <a16:creationId xmlns:a16="http://schemas.microsoft.com/office/drawing/2014/main" id="{D3358B02-3BDB-447B-82C7-5264BECA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CRITICAL JUDGMENT</a:t>
            </a:r>
          </a:p>
        </p:txBody>
      </p:sp>
      <p:sp>
        <p:nvSpPr>
          <p:cNvPr id="6" name="column-heading-1">
            <a:extLst xmlns:a="http://schemas.openxmlformats.org/drawingml/2006/main">
              <a:ext uri="{FF2B5EF4-FFF2-40B4-BE49-F238E27FC236}">
                <a16:creationId xmlns:a16="http://schemas.microsoft.com/office/drawing/2014/main" id="{1FF4E6A1-818A-42C5-8A00-E376AFE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Law remains answerable to morality</a:t>
            </a:r>
          </a:p>
        </p:txBody>
      </p:sp>
      <p:sp>
        <p:nvSpPr>
          <p:cNvPr id="7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DFAC2AE6-85C9-4C82-864C-B0966C14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Blind obedience would protect persecution and grave injustice. Legitimate authority must have moral limits.</a:t>
            </a:r>
          </a:p>
        </p:txBody>
      </p:sp>
      <p:sp>
        <p:nvSpPr>
          <p:cNvPr id="8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B73DDA48-AB2B-4BDB-B35A-8DE83B8D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9" name="column-result-1">
            <a:extLst xmlns:a="http://schemas.openxmlformats.org/drawingml/2006/main">
              <a:ext uri="{FF2B5EF4-FFF2-40B4-BE49-F238E27FC236}">
                <a16:creationId xmlns:a16="http://schemas.microsoft.com/office/drawing/2014/main" id="{5ADADB03-04F8-4FEC-9276-C24917E9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Citizens need room to question and sometimes resist.</a:t>
            </a:r>
          </a:p>
        </p:txBody>
      </p:sp>
      <p:sp>
        <p:nvSpPr>
          <p:cNvPr id="10" name="column-label-2">
            <a:extLst xmlns:a="http://schemas.openxmlformats.org/drawingml/2006/main">
              <a:ext uri="{FF2B5EF4-FFF2-40B4-BE49-F238E27FC236}">
                <a16:creationId xmlns:a16="http://schemas.microsoft.com/office/drawing/2014/main" id="{03AE1BF0-92B5-4D8F-80C3-D7C1211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305775"/>
                </a:solidFill>
                <a:latin typeface="Consolas"/>
                <a:ea typeface="Consolas"/>
                <a:cs typeface="Consolas"/>
              </a:rPr>
              <a:t>PUBLIC COORDINATION</a:t>
            </a:r>
          </a:p>
        </p:txBody>
      </p:sp>
      <p:sp>
        <p:nvSpPr>
          <p:cNvPr id="11" name="column-heading-2">
            <a:extLst xmlns:a="http://schemas.openxmlformats.org/drawingml/2006/main">
              <a:ext uri="{FF2B5EF4-FFF2-40B4-BE49-F238E27FC236}">
                <a16:creationId xmlns:a16="http://schemas.microsoft.com/office/drawing/2014/main" id="{BB5A0D1D-FC4B-42EC-A478-B9642719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Shared rules structure common life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E9A22488-2BD5-417E-ACB6-CAC7A28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society cannot coordinate property, taxation, safety, and public decisions if every rule changes with each person’s private verdict.</a:t>
            </a:r>
          </a:p>
        </p:txBody>
      </p:sp>
      <p:sp>
        <p:nvSpPr>
          <p:cNvPr id="13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0A9CAE54-7A9A-4717-A0E4-03FA751D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column-result-2">
            <a:extLst xmlns:a="http://schemas.openxmlformats.org/drawingml/2006/main">
              <a:ext uri="{FF2B5EF4-FFF2-40B4-BE49-F238E27FC236}">
                <a16:creationId xmlns:a16="http://schemas.microsoft.com/office/drawing/2014/main" id="{4BC6F3C0-5A49-43A4-B0FF-E9CA4E4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8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818"/>
                </a:solidFill>
                <a:latin typeface="Arial"/>
                <a:ea typeface="Arial"/>
                <a:cs typeface="Arial"/>
              </a:rPr>
              <a:t>Public law must sometimes settle disagreement.</a:t>
            </a:r>
          </a:p>
        </p:txBody>
      </p:sp>
      <p:sp>
        <p:nvSpPr>
          <p:cNvPr id="15" name="bottom-rule">
            <a:extLst xmlns:a="http://schemas.openxmlformats.org/drawingml/2006/main">
              <a:ext uri="{FF2B5EF4-FFF2-40B4-BE49-F238E27FC236}">
                <a16:creationId xmlns:a16="http://schemas.microsoft.com/office/drawing/2014/main" id="{F031866E-A0A5-4069-AD97-E7536AB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6" name="bottom-line">
            <a:extLst xmlns:a="http://schemas.openxmlformats.org/drawingml/2006/main">
              <a:ext uri="{FF2B5EF4-FFF2-40B4-BE49-F238E27FC236}">
                <a16:creationId xmlns:a16="http://schemas.microsoft.com/office/drawing/2014/main" id="{A0BF3546-9B75-4668-8CD9-D303F1D1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A satisfactory account of legitimacy must preserve moral criticism and explain the authority of shared rules.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BE6CF7-8F4E-4835-BC05-852D2E2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142698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390B6935-6611-4B5D-83DC-9B851602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ARGUMENT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A9706D-1D9D-45F8-9156-29E661EF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The chapter’s movement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51F39C-22DE-42C0-8E2D-2EA7C365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synthesis-number-1">
            <a:extLst xmlns:a="http://schemas.openxmlformats.org/drawingml/2006/main">
              <a:ext uri="{FF2B5EF4-FFF2-40B4-BE49-F238E27FC236}">
                <a16:creationId xmlns:a16="http://schemas.microsoft.com/office/drawing/2014/main" id="{57AC9738-A150-4691-AA3E-52741403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5" name="synthesis-heading-1">
            <a:extLst xmlns:a="http://schemas.openxmlformats.org/drawingml/2006/main">
              <a:ext uri="{FF2B5EF4-FFF2-40B4-BE49-F238E27FC236}">
                <a16:creationId xmlns:a16="http://schemas.microsoft.com/office/drawing/2014/main" id="{20BE1728-EFDB-49CD-BA37-CDFA48F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State of nature</a:t>
            </a:r>
          </a:p>
        </p:txBody>
      </p:sp>
      <p:sp>
        <p:nvSpPr>
          <p:cNvPr id="6" name="synthesis-body-1">
            <a:extLst xmlns:a="http://schemas.openxmlformats.org/drawingml/2006/main">
              <a:ext uri="{FF2B5EF4-FFF2-40B4-BE49-F238E27FC236}">
                <a16:creationId xmlns:a16="http://schemas.microsoft.com/office/drawing/2014/main" id="{D87449EE-6E74-440B-9F37-6694BA21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A counterfactual baseline shows why order, protection, or impartial judgment may be needed.</a:t>
            </a:r>
          </a:p>
        </p:txBody>
      </p:sp>
      <p:sp>
        <p:nvSpPr>
          <p:cNvPr id="7" name="synthesis-divider-1">
            <a:extLst xmlns:a="http://schemas.openxmlformats.org/drawingml/2006/main">
              <a:ext uri="{FF2B5EF4-FFF2-40B4-BE49-F238E27FC236}">
                <a16:creationId xmlns:a16="http://schemas.microsoft.com/office/drawing/2014/main" id="{CDBD4924-F006-498B-8FFD-028A1AF6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8" name="synthesis-number-2">
            <a:extLst xmlns:a="http://schemas.openxmlformats.org/drawingml/2006/main">
              <a:ext uri="{FF2B5EF4-FFF2-40B4-BE49-F238E27FC236}">
                <a16:creationId xmlns:a16="http://schemas.microsoft.com/office/drawing/2014/main" id="{BA312887-FE2B-4A53-A8B7-D60235B5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synthesis-heading-2">
            <a:extLst xmlns:a="http://schemas.openxmlformats.org/drawingml/2006/main">
              <a:ext uri="{FF2B5EF4-FFF2-40B4-BE49-F238E27FC236}">
                <a16:creationId xmlns:a16="http://schemas.microsoft.com/office/drawing/2014/main" id="{70DC0E7A-261A-4AF9-852F-81E39B21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Justification</a:t>
            </a:r>
          </a:p>
        </p:txBody>
      </p:sp>
      <p:sp>
        <p:nvSpPr>
          <p:cNvPr id="10" name="synthesis-body-2">
            <a:extLst xmlns:a="http://schemas.openxmlformats.org/drawingml/2006/main">
              <a:ext uri="{FF2B5EF4-FFF2-40B4-BE49-F238E27FC236}">
                <a16:creationId xmlns:a16="http://schemas.microsoft.com/office/drawing/2014/main" id="{C0A83DB1-980A-4157-B0AD-243C9B0C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next question asks why an institution has moral authority over each resident.</a:t>
            </a:r>
          </a:p>
        </p:txBody>
      </p:sp>
      <p:sp>
        <p:nvSpPr>
          <p:cNvPr id="11" name="synthesis-divider-2">
            <a:extLst xmlns:a="http://schemas.openxmlformats.org/drawingml/2006/main">
              <a:ext uri="{FF2B5EF4-FFF2-40B4-BE49-F238E27FC236}">
                <a16:creationId xmlns:a16="http://schemas.microsoft.com/office/drawing/2014/main" id="{7E647A03-2AD7-4D54-BCE8-5E98808C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2" name="synthesis-number-3">
            <a:extLst xmlns:a="http://schemas.openxmlformats.org/drawingml/2006/main">
              <a:ext uri="{FF2B5EF4-FFF2-40B4-BE49-F238E27FC236}">
                <a16:creationId xmlns:a16="http://schemas.microsoft.com/office/drawing/2014/main" id="{2D08C373-E817-40EE-9EF1-0363E5E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synthesis-heading-3">
            <a:extLst xmlns:a="http://schemas.openxmlformats.org/drawingml/2006/main">
              <a:ext uri="{FF2B5EF4-FFF2-40B4-BE49-F238E27FC236}">
                <a16:creationId xmlns:a16="http://schemas.microsoft.com/office/drawing/2014/main" id="{3F3FDD49-AFDF-4E15-A82C-888C5A4B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Social contract</a:t>
            </a:r>
          </a:p>
        </p:txBody>
      </p:sp>
      <p:sp>
        <p:nvSpPr>
          <p:cNvPr id="14" name="synthesis-body-3">
            <a:extLst xmlns:a="http://schemas.openxmlformats.org/drawingml/2006/main">
              <a:ext uri="{FF2B5EF4-FFF2-40B4-BE49-F238E27FC236}">
                <a16:creationId xmlns:a16="http://schemas.microsoft.com/office/drawing/2014/main" id="{D37E7C3C-5C8A-49D1-B914-A71A5E5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Consent promises authorization, but every version tested fails to reach everyone.</a:t>
            </a:r>
          </a:p>
        </p:txBody>
      </p:sp>
      <p:sp>
        <p:nvSpPr>
          <p:cNvPr id="15" name="synthesis-divider-3">
            <a:extLst xmlns:a="http://schemas.openxmlformats.org/drawingml/2006/main">
              <a:ext uri="{FF2B5EF4-FFF2-40B4-BE49-F238E27FC236}">
                <a16:creationId xmlns:a16="http://schemas.microsoft.com/office/drawing/2014/main" id="{A4963A1A-9492-4790-8C80-FE3AD331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6" name="synthesis-number-4">
            <a:extLst xmlns:a="http://schemas.openxmlformats.org/drawingml/2006/main">
              <a:ext uri="{FF2B5EF4-FFF2-40B4-BE49-F238E27FC236}">
                <a16:creationId xmlns:a16="http://schemas.microsoft.com/office/drawing/2014/main" id="{CEA0756C-5626-46F0-ACD3-ED66957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synthesis-heading-4">
            <a:extLst xmlns:a="http://schemas.openxmlformats.org/drawingml/2006/main">
              <a:ext uri="{FF2B5EF4-FFF2-40B4-BE49-F238E27FC236}">
                <a16:creationId xmlns:a16="http://schemas.microsoft.com/office/drawing/2014/main" id="{DEFE97AB-2212-4EE4-B28A-07CFEC0B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Anarchist pressure</a:t>
            </a:r>
          </a:p>
        </p:txBody>
      </p:sp>
      <p:sp>
        <p:nvSpPr>
          <p:cNvPr id="18" name="synthesis-body-4">
            <a:extLst xmlns:a="http://schemas.openxmlformats.org/drawingml/2006/main">
              <a:ext uri="{FF2B5EF4-FFF2-40B4-BE49-F238E27FC236}">
                <a16:creationId xmlns:a16="http://schemas.microsoft.com/office/drawing/2014/main" id="{9E44D31B-DABE-473F-8C0E-37C6DDC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457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failure limits a duty to obey law as law, while the need for shared rules remains.</a:t>
            </a:r>
          </a:p>
        </p:txBody>
      </p:sp>
      <p:sp>
        <p:nvSpPr>
          <p:cNvPr id="1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D7F9B528-EB74-4CA8-91EA-B017F50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20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0EAF179-D27F-4BFD-AB6E-C55CBC1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61B15"/>
                </a:solidFill>
                <a:latin typeface="Georgia"/>
                <a:ea typeface="Georgia"/>
                <a:cs typeface="Georgia"/>
              </a:rPr>
              <a:t>The need for political order and the legitimacy of political authority remain distinct questions.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6C4D5C-4EFB-4352-A7D5-7522816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041465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3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856F6411-1A14-4708-99BB-05F466CF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SOURCES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6636E1-0F30-471C-9B1F-B980C0D2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71818"/>
                </a:solidFill>
                <a:latin typeface="Georgia"/>
                <a:ea typeface="Georgia"/>
                <a:cs typeface="Georgia"/>
              </a:rPr>
              <a:t>References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CF1FBC-7061-4558-93CA-3D5F55A7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81E"/>
          </a:solidFill>
          <a:ln xmlns:a="http://schemas.openxmlformats.org/drawingml/2006/main" w="0">
            <a:noFill/>
          </a:ln>
        </p:spPr>
      </p:sp>
      <p:sp>
        <p:nvSpPr>
          <p:cNvPr id="4" name="reference-rule-1">
            <a:extLst xmlns:a="http://schemas.openxmlformats.org/drawingml/2006/main">
              <a:ext uri="{FF2B5EF4-FFF2-40B4-BE49-F238E27FC236}">
                <a16:creationId xmlns:a16="http://schemas.microsoft.com/office/drawing/2014/main" id="{3F0DB392-DEE0-4D13-A780-B46651D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B55"/>
          </a:solidFill>
          <a:ln xmlns:a="http://schemas.openxmlformats.org/drawingml/2006/main" w="0">
            <a:noFill/>
          </a:ln>
        </p:spPr>
      </p:sp>
      <p:sp>
        <p:nvSpPr>
          <p:cNvPr id="5" name="reference-label-1">
            <a:extLst xmlns:a="http://schemas.openxmlformats.org/drawingml/2006/main">
              <a:ext uri="{FF2B5EF4-FFF2-40B4-BE49-F238E27FC236}">
                <a16:creationId xmlns:a16="http://schemas.microsoft.com/office/drawing/2014/main" id="{D5CE0E70-FC58-46DE-96D2-3D62399D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PRIMARY READING</a:t>
            </a:r>
          </a:p>
        </p:txBody>
      </p:sp>
      <p:sp>
        <p:nvSpPr>
          <p:cNvPr id="6" name="reference-text-1">
            <a:extLst xmlns:a="http://schemas.openxmlformats.org/drawingml/2006/main">
              <a:ext uri="{FF2B5EF4-FFF2-40B4-BE49-F238E27FC236}">
                <a16:creationId xmlns:a16="http://schemas.microsoft.com/office/drawing/2014/main" id="{851ABC4C-B47F-40A0-92EF-379AE9B9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336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“01a Justifying the State - Intro,” source PDF, 20 pages.</a:t>
            </a:r>
          </a:p>
        </p:txBody>
      </p:sp>
      <p:sp>
        <p:nvSpPr>
          <p:cNvPr id="7" name="reference-rule-2">
            <a:extLst xmlns:a="http://schemas.openxmlformats.org/drawingml/2006/main">
              <a:ext uri="{FF2B5EF4-FFF2-40B4-BE49-F238E27FC236}">
                <a16:creationId xmlns:a16="http://schemas.microsoft.com/office/drawing/2014/main" id="{3FF72B00-C124-4CE6-8A71-AAD08D1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8" name="reference-label-2">
            <a:extLst xmlns:a="http://schemas.openxmlformats.org/drawingml/2006/main">
              <a:ext uri="{FF2B5EF4-FFF2-40B4-BE49-F238E27FC236}">
                <a16:creationId xmlns:a16="http://schemas.microsoft.com/office/drawing/2014/main" id="{6B9D845A-C36B-4A62-A60F-C9D8225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JOHN LOCKE</a:t>
            </a:r>
          </a:p>
        </p:txBody>
      </p:sp>
      <p:sp>
        <p:nvSpPr>
          <p:cNvPr id="9" name="reference-text-2">
            <a:extLst xmlns:a="http://schemas.openxmlformats.org/drawingml/2006/main">
              <a:ext uri="{FF2B5EF4-FFF2-40B4-BE49-F238E27FC236}">
                <a16:creationId xmlns:a16="http://schemas.microsoft.com/office/drawing/2014/main" id="{7F0BA5FD-B136-4CF2-B614-A3F7920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813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Second Treatise of Civil Government, sections 15 and 119, as quoted and discussed in the source reading.</a:t>
            </a:r>
          </a:p>
        </p:txBody>
      </p:sp>
      <p:sp>
        <p:nvSpPr>
          <p:cNvPr id="10" name="reference-rule-3">
            <a:extLst xmlns:a="http://schemas.openxmlformats.org/drawingml/2006/main">
              <a:ext uri="{FF2B5EF4-FFF2-40B4-BE49-F238E27FC236}">
                <a16:creationId xmlns:a16="http://schemas.microsoft.com/office/drawing/2014/main" id="{986F1E61-DE4C-45DD-BFCA-AEE0DFD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1" name="reference-label-3">
            <a:extLst xmlns:a="http://schemas.openxmlformats.org/drawingml/2006/main">
              <a:ext uri="{FF2B5EF4-FFF2-40B4-BE49-F238E27FC236}">
                <a16:creationId xmlns:a16="http://schemas.microsoft.com/office/drawing/2014/main" id="{EC9B68E0-EC2B-41BE-9E7E-30D3BB1D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DAVID HUME</a:t>
            </a:r>
          </a:p>
        </p:txBody>
      </p:sp>
      <p:sp>
        <p:nvSpPr>
          <p:cNvPr id="12" name="reference-text-3">
            <a:extLst xmlns:a="http://schemas.openxmlformats.org/drawingml/2006/main">
              <a:ext uri="{FF2B5EF4-FFF2-40B4-BE49-F238E27FC236}">
                <a16:creationId xmlns:a16="http://schemas.microsoft.com/office/drawing/2014/main" id="{F8A6E8F6-8985-45B9-AB3B-92FD9028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“Of the Original Contract,” as quoted and discussed in the source reading.</a:t>
            </a:r>
          </a:p>
        </p:txBody>
      </p:sp>
      <p:sp>
        <p:nvSpPr>
          <p:cNvPr id="13" name="reference-rule-4">
            <a:extLst xmlns:a="http://schemas.openxmlformats.org/drawingml/2006/main">
              <a:ext uri="{FF2B5EF4-FFF2-40B4-BE49-F238E27FC236}">
                <a16:creationId xmlns:a16="http://schemas.microsoft.com/office/drawing/2014/main" id="{C84FB84E-9E17-48AB-B05F-3533EA6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4" name="reference-label-4">
            <a:extLst xmlns:a="http://schemas.openxmlformats.org/drawingml/2006/main">
              <a:ext uri="{FF2B5EF4-FFF2-40B4-BE49-F238E27FC236}">
                <a16:creationId xmlns:a16="http://schemas.microsoft.com/office/drawing/2014/main" id="{B88A779B-02A9-4D90-86B7-565B2743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JEAN-JACQUES ROUSSEAU</a:t>
            </a:r>
          </a:p>
        </p:txBody>
      </p:sp>
      <p:sp>
        <p:nvSpPr>
          <p:cNvPr id="15" name="reference-text-4">
            <a:extLst xmlns:a="http://schemas.openxmlformats.org/drawingml/2006/main">
              <a:ext uri="{FF2B5EF4-FFF2-40B4-BE49-F238E27FC236}">
                <a16:creationId xmlns:a16="http://schemas.microsoft.com/office/drawing/2014/main" id="{1A322DDD-C319-4B33-8A88-5B517319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767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The Social Contract, book IV, chapter 2, as discussed in the source reading.</a:t>
            </a:r>
          </a:p>
        </p:txBody>
      </p:sp>
      <p:sp>
        <p:nvSpPr>
          <p:cNvPr id="16" name="reference-rule-5">
            <a:extLst xmlns:a="http://schemas.openxmlformats.org/drawingml/2006/main">
              <a:ext uri="{FF2B5EF4-FFF2-40B4-BE49-F238E27FC236}">
                <a16:creationId xmlns:a16="http://schemas.microsoft.com/office/drawing/2014/main" id="{BE042E9E-E3D0-412D-984A-97589BE4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17" name="reference-label-5">
            <a:extLst xmlns:a="http://schemas.openxmlformats.org/drawingml/2006/main">
              <a:ext uri="{FF2B5EF4-FFF2-40B4-BE49-F238E27FC236}">
                <a16:creationId xmlns:a16="http://schemas.microsoft.com/office/drawing/2014/main" id="{7848C187-7226-4C10-A787-11EF8145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MILL AND WEBER</a:t>
            </a:r>
          </a:p>
        </p:txBody>
      </p:sp>
      <p:sp>
        <p:nvSpPr>
          <p:cNvPr id="18" name="reference-text-5">
            <a:extLst xmlns:a="http://schemas.openxmlformats.org/drawingml/2006/main">
              <a:ext uri="{FF2B5EF4-FFF2-40B4-BE49-F238E27FC236}">
                <a16:creationId xmlns:a16="http://schemas.microsoft.com/office/drawing/2014/main" id="{4B70398A-0ED9-4AE7-A46E-73321B6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244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On Liberty and the account of the state’s monopoly of legitimate force, as quoted or discussed in the source reading.</a:t>
            </a:r>
          </a:p>
        </p:txBody>
      </p:sp>
      <p:sp>
        <p:nvSpPr>
          <p:cNvPr id="19" name="reference-rule-6">
            <a:extLst xmlns:a="http://schemas.openxmlformats.org/drawingml/2006/main">
              <a:ext uri="{FF2B5EF4-FFF2-40B4-BE49-F238E27FC236}">
                <a16:creationId xmlns:a16="http://schemas.microsoft.com/office/drawing/2014/main" id="{4605AA48-5B58-4BA6-91B3-36D3D2C5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A0"/>
          </a:solidFill>
          <a:ln xmlns:a="http://schemas.openxmlformats.org/drawingml/2006/main" w="0">
            <a:noFill/>
          </a:ln>
        </p:spPr>
      </p:sp>
      <p:sp>
        <p:nvSpPr>
          <p:cNvPr id="20" name="reference-label-6">
            <a:extLst xmlns:a="http://schemas.openxmlformats.org/drawingml/2006/main">
              <a:ext uri="{FF2B5EF4-FFF2-40B4-BE49-F238E27FC236}">
                <a16:creationId xmlns:a16="http://schemas.microsoft.com/office/drawing/2014/main" id="{59872740-2E8E-43F7-9434-CC172529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8B281E"/>
                </a:solidFill>
                <a:latin typeface="Consolas"/>
                <a:ea typeface="Consolas"/>
                <a:cs typeface="Consolas"/>
              </a:rPr>
              <a:t>COURSE CONTEXT</a:t>
            </a:r>
          </a:p>
        </p:txBody>
      </p:sp>
      <p:sp>
        <p:nvSpPr>
          <p:cNvPr id="21" name="reference-text-6">
            <a:extLst xmlns:a="http://schemas.openxmlformats.org/drawingml/2006/main">
              <a:ext uri="{FF2B5EF4-FFF2-40B4-BE49-F238E27FC236}">
                <a16:creationId xmlns:a16="http://schemas.microsoft.com/office/drawing/2014/main" id="{5066AEB4-FFC2-4F7A-8FE6-8E5BC87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72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5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5B55"/>
                </a:solidFill>
                <a:latin typeface="Arial"/>
                <a:ea typeface="Arial"/>
                <a:cs typeface="Arial"/>
              </a:rPr>
              <a:t>State of Nature Wrapup, course presentation used to frame the transition between units.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8C9A30-07C6-4077-B7E6-521FB6D4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E5B5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62992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2026-09-16T15:15:38.6830000Z</dcterms:created>
  <dcterms:modified xsi:type="dcterms:W3CDTF">2026-09-16T15:15:38.6840000Z</dcterms:modified>
</coreProperties>
</file>